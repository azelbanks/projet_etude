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F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h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960120"/>
            <a:ext cx="3959352" cy="17495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14600"/>
            <a:ext cx="103601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Inter"/>
              </a:rPr>
              <a:t>THUMACHECK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11880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0" i="0">
                <a:solidFill>
                  <a:srgbClr val="D9CFBE"/>
                </a:solidFill>
                <a:latin typeface="Inter"/>
              </a:rPr>
              <a:t>Détection de désinformation sur Bluesky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EF8265"/>
                </a:solidFill>
                <a:latin typeface="Inter"/>
              </a:rPr>
              <a:t>bilingue   ·   explicable   ·   frugale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184648" y="4663440"/>
            <a:ext cx="1828800" cy="16459"/>
          </a:xfrm>
          <a:prstGeom prst="rect">
            <a:avLst/>
          </a:prstGeom>
          <a:solidFill>
            <a:srgbClr val="B0C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9204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Inter"/>
              </a:rPr>
              <a:t>Azélie Bernard   ·   Sébastien Lazcanotegui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85232"/>
            <a:ext cx="103601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D9CFBE"/>
                </a:solidFill>
                <a:latin typeface="Inter"/>
              </a:rPr>
              <a:t>Master 1 Big Data &amp; Intelligence Artificielle — 2025 /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97880"/>
            <a:ext cx="10360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B0C1C0"/>
                </a:solidFill>
                <a:latin typeface="Inter"/>
              </a:rPr>
              <a:t>Niamato Consulting  pour  Thumalien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F8265"/>
                </a:solidFill>
                <a:latin typeface="Inter"/>
              </a:rPr>
              <a:t>NIAMATO CONSULTING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8778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0E3F40"/>
                </a:solidFill>
                <a:latin typeface="Inter"/>
              </a:rPr>
              <a:t>L'équipe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868680" cy="45720"/>
          </a:xfrm>
          <a:prstGeom prst="rect">
            <a:avLst/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07492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074920" cy="91440"/>
          </a:xfrm>
          <a:prstGeom prst="rect">
            <a:avLst/>
          </a:prstGeom>
          <a:solidFill>
            <a:srgbClr val="0E3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19" y="2148840"/>
            <a:ext cx="914400" cy="914400"/>
          </a:xfrm>
          <a:prstGeom prst="ellipse">
            <a:avLst/>
          </a:prstGeom>
          <a:solidFill>
            <a:srgbClr val="F6F1E8"/>
          </a:solidFill>
          <a:ln w="19050">
            <a:solidFill>
              <a:srgbClr val="0E3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214884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0E3F40"/>
                </a:solidFill>
                <a:latin typeface="Inter"/>
              </a:rPr>
              <a:t>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221284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E3F40"/>
                </a:solidFill>
                <a:latin typeface="Inter"/>
              </a:rPr>
              <a:t>Azélie Bernard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61518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3F40"/>
                </a:solidFill>
                <a:latin typeface="Inter"/>
              </a:rPr>
              <a:t>Lead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37560"/>
            <a:ext cx="44348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202E2F"/>
                </a:solidFill>
                <a:latin typeface="Inter"/>
              </a:rPr>
              <a:t>•  Pipeline NLP V1 → V9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202E2F"/>
                </a:solidFill>
                <a:latin typeface="Inter"/>
              </a:rPr>
              <a:t>•  Dashboard Streamlit 5 pages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202E2F"/>
                </a:solidFill>
                <a:latin typeface="Inter"/>
              </a:rPr>
              <a:t>•  XAI : SHAP, Captum, faithfulness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202E2F"/>
                </a:solidFill>
                <a:latin typeface="Inter"/>
              </a:rPr>
              <a:t>•  Fine-tuning CamemBERT &amp; RoBERTa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202E2F"/>
                </a:solidFill>
                <a:latin typeface="Inter"/>
              </a:rPr>
              <a:t>•  CI/CD, tests, mutation testing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73952" y="1783080"/>
            <a:ext cx="507492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73952" y="1783080"/>
            <a:ext cx="5074920" cy="91440"/>
          </a:xfrm>
          <a:prstGeom prst="rect">
            <a:avLst/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93992" y="2148840"/>
            <a:ext cx="914400" cy="914400"/>
          </a:xfrm>
          <a:prstGeom prst="ellipse">
            <a:avLst/>
          </a:prstGeom>
          <a:solidFill>
            <a:srgbClr val="F6F1E8"/>
          </a:solidFill>
          <a:ln w="19050">
            <a:solidFill>
              <a:srgbClr val="EF8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93992" y="214884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EF8265"/>
                </a:solidFill>
                <a:latin typeface="Inter"/>
              </a:rPr>
              <a:t>SL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1272" y="221284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E3F40"/>
                </a:solidFill>
                <a:latin typeface="Inter"/>
              </a:rPr>
              <a:t>Sébastien Lazcanotegui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1272" y="261518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F8265"/>
                </a:solidFill>
                <a:latin typeface="Inter"/>
              </a:rPr>
              <a:t>Validation &amp; Qualité 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3337560"/>
            <a:ext cx="44348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202E2F"/>
                </a:solidFill>
                <a:latin typeface="Inter"/>
              </a:rPr>
              <a:t>•  Annotation gold set (473 posts)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202E2F"/>
                </a:solidFill>
                <a:latin typeface="Inter"/>
              </a:rPr>
              <a:t>•  Débiaisage Reuters (BODY_AGENCY_TERMS)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202E2F"/>
                </a:solidFill>
                <a:latin typeface="Inter"/>
              </a:rPr>
              <a:t>•  GridSearch hyperparamètres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202E2F"/>
                </a:solidFill>
                <a:latin typeface="Inter"/>
              </a:rPr>
              <a:t>•  Revue critique &amp; challenge technique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202E2F"/>
                </a:solidFill>
                <a:latin typeface="Inter"/>
              </a:rPr>
              <a:t>•  Conformité RGPD &amp; AI 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00800"/>
            <a:ext cx="10908792" cy="10058"/>
          </a:xfrm>
          <a:prstGeom prst="rect">
            <a:avLst/>
          </a:prstGeom>
          <a:solidFill>
            <a:srgbClr val="E4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584"/>
                </a:solidFill>
                <a:latin typeface="Inter"/>
              </a:rPr>
              <a:t>Niamato Consulting   ·   ThumaCheck   ·   Client : Thumalien   ·   M1 BDIA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55664"/>
            <a:ext cx="1490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7C8584"/>
                </a:solidFill>
                <a:latin typeface="Inter"/>
              </a:rPr>
              <a:t>2 / 17</a:t>
            </a:r>
          </a:p>
        </p:txBody>
      </p:sp>
      <p:pic>
        <p:nvPicPr>
          <p:cNvPr id="22" name="Picture 21" descr="logo_h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1874519" cy="8283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F8265"/>
                </a:solidFill>
                <a:latin typeface="Inter"/>
              </a:rPr>
              <a:t>LE CONSTAT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8778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0E3F40"/>
                </a:solidFill>
                <a:latin typeface="Inter"/>
              </a:rPr>
              <a:t>La désinformation sur Bluesky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868680" cy="45720"/>
          </a:xfrm>
          <a:prstGeom prst="rect">
            <a:avLst/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5202936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91440" cy="1874519"/>
          </a:xfrm>
          <a:prstGeom prst="rect">
            <a:avLst/>
          </a:prstGeom>
          <a:solidFill>
            <a:srgbClr val="0E3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67127"/>
            <a:ext cx="447141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800" b="1" i="0">
                <a:solidFill>
                  <a:srgbClr val="0E3F40"/>
                </a:solidFill>
                <a:latin typeface="Inter"/>
              </a:rPr>
              <a:t>35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44714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02E2F"/>
                </a:solidFill>
                <a:latin typeface="Inter"/>
              </a:rPr>
              <a:t>utilisateurs Bluesky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45936" y="1874519"/>
            <a:ext cx="5202936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45936" y="1874519"/>
            <a:ext cx="91440" cy="1874519"/>
          </a:xfrm>
          <a:prstGeom prst="rect">
            <a:avLst/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136" y="2167127"/>
            <a:ext cx="447141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800" b="1" i="0">
                <a:solidFill>
                  <a:srgbClr val="EF8265"/>
                </a:solidFill>
                <a:latin typeface="Inter"/>
              </a:rPr>
              <a:t>60 000+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3136" y="3200400"/>
            <a:ext cx="44714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02E2F"/>
                </a:solidFill>
                <a:latin typeface="Inter"/>
              </a:rPr>
              <a:t>posts publics FR / EN par jour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31920"/>
            <a:ext cx="5202936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931920"/>
            <a:ext cx="91440" cy="1874519"/>
          </a:xfrm>
          <a:prstGeom prst="rect">
            <a:avLst/>
          </a:prstGeom>
          <a:solidFill>
            <a:srgbClr val="0E3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224528"/>
            <a:ext cx="447141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800" b="1" i="0">
                <a:solidFill>
                  <a:srgbClr val="0E3F40"/>
                </a:solidFill>
                <a:latin typeface="Inter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257800"/>
            <a:ext cx="44714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02E2F"/>
                </a:solidFill>
                <a:latin typeface="Inter"/>
              </a:rPr>
              <a:t>équipe de modération centralisée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45936" y="3931920"/>
            <a:ext cx="5202936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5936" y="3931920"/>
            <a:ext cx="91440" cy="1874519"/>
          </a:xfrm>
          <a:prstGeom prst="rect">
            <a:avLst/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3136" y="4224528"/>
            <a:ext cx="447141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EF8265"/>
                </a:solidFill>
                <a:latin typeface="Inter"/>
              </a:rPr>
              <a:t>Angle mort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3136" y="5257800"/>
            <a:ext cx="44714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02E2F"/>
                </a:solidFill>
                <a:latin typeface="Inter"/>
              </a:rPr>
              <a:t>de la régulation européenne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00800"/>
            <a:ext cx="10908792" cy="10058"/>
          </a:xfrm>
          <a:prstGeom prst="rect">
            <a:avLst/>
          </a:prstGeom>
          <a:solidFill>
            <a:srgbClr val="E4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584"/>
                </a:solidFill>
                <a:latin typeface="Inter"/>
              </a:rPr>
              <a:t>Niamato Consulting   ·   ThumaCheck   ·   Client : Thumalien   ·   M1 BDIA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55664"/>
            <a:ext cx="1490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7C8584"/>
                </a:solidFill>
                <a:latin typeface="Inter"/>
              </a:rPr>
              <a:t>3 / 17</a:t>
            </a:r>
          </a:p>
        </p:txBody>
      </p:sp>
      <p:pic>
        <p:nvPicPr>
          <p:cNvPr id="24" name="Picture 23" descr="logo_h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1874519" cy="8283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F8265"/>
                </a:solidFill>
                <a:latin typeface="Inter"/>
              </a:rPr>
              <a:t>LE MANDAT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8778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0E3F40"/>
                </a:solidFill>
                <a:latin typeface="Inter"/>
              </a:rPr>
              <a:t>Le cahier des charges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868680" cy="45720"/>
          </a:xfrm>
          <a:prstGeom prst="rect">
            <a:avLst/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908792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28016" cy="896112"/>
          </a:xfrm>
          <a:prstGeom prst="rect">
            <a:avLst/>
          </a:prstGeom>
          <a:solidFill>
            <a:srgbClr val="0E3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956816"/>
            <a:ext cx="548640" cy="548640"/>
          </a:xfrm>
          <a:prstGeom prst="ellipse">
            <a:avLst/>
          </a:prstGeom>
          <a:solidFill>
            <a:srgbClr val="0E3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5681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783080"/>
            <a:ext cx="3108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0E3F40"/>
                </a:solidFill>
                <a:latin typeface="Inter"/>
              </a:rPr>
              <a:t>TRANSPARENCE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783080"/>
            <a:ext cx="649224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202E2F"/>
                </a:solidFill>
                <a:latin typeface="Inter"/>
              </a:rPr>
              <a:t>Chaque score doit être explicable et auditable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07208"/>
            <a:ext cx="10908792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807208"/>
            <a:ext cx="128016" cy="896112"/>
          </a:xfrm>
          <a:prstGeom prst="rect">
            <a:avLst/>
          </a:prstGeom>
          <a:solidFill>
            <a:srgbClr val="95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0120" y="2980944"/>
            <a:ext cx="548640" cy="548640"/>
          </a:xfrm>
          <a:prstGeom prst="ellipse">
            <a:avLst/>
          </a:prstGeom>
          <a:solidFill>
            <a:srgbClr val="95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9809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807208"/>
            <a:ext cx="3108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0E3F40"/>
                </a:solidFill>
                <a:latin typeface="Inter"/>
              </a:rPr>
              <a:t>BILINGUE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807208"/>
            <a:ext cx="649224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202E2F"/>
                </a:solidFill>
                <a:latin typeface="Inter"/>
              </a:rPr>
              <a:t>Français + anglais, performance équivalente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31336"/>
            <a:ext cx="10908792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31336"/>
            <a:ext cx="128016" cy="896112"/>
          </a:xfrm>
          <a:prstGeom prst="rect">
            <a:avLst/>
          </a:prstGeom>
          <a:solidFill>
            <a:srgbClr val="247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005072"/>
            <a:ext cx="548640" cy="548640"/>
          </a:xfrm>
          <a:prstGeom prst="ellipse">
            <a:avLst/>
          </a:prstGeom>
          <a:solidFill>
            <a:srgbClr val="247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00507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831336"/>
            <a:ext cx="3108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0E3F40"/>
                </a:solidFill>
                <a:latin typeface="Inter"/>
              </a:rPr>
              <a:t>FRUGALITÉ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831336"/>
            <a:ext cx="649224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202E2F"/>
                </a:solidFill>
                <a:latin typeface="Inter"/>
              </a:rPr>
              <a:t>&lt; 5 ms par texte, empreinte CO₂ mesurée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855464"/>
            <a:ext cx="10908792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855464"/>
            <a:ext cx="128016" cy="896112"/>
          </a:xfrm>
          <a:prstGeom prst="rect">
            <a:avLst/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0120" y="5029200"/>
            <a:ext cx="548640" cy="548640"/>
          </a:xfrm>
          <a:prstGeom prst="ellipse">
            <a:avLst/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0292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855464"/>
            <a:ext cx="3108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0E3F40"/>
                </a:solidFill>
                <a:latin typeface="Inter"/>
              </a:rPr>
              <a:t>CONFORMITÉ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855464"/>
            <a:ext cx="649224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202E2F"/>
                </a:solidFill>
                <a:latin typeface="Inter"/>
              </a:rPr>
              <a:t>RGPD art. 22 + AI Act art. 13 / 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9320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C8584"/>
                </a:solidFill>
                <a:latin typeface="Inter"/>
              </a:rPr>
              <a:t>Quatre exigences non négociables pour passer du prototype au système déployable.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400800"/>
            <a:ext cx="10908792" cy="10058"/>
          </a:xfrm>
          <a:prstGeom prst="rect">
            <a:avLst/>
          </a:prstGeom>
          <a:solidFill>
            <a:srgbClr val="E4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584"/>
                </a:solidFill>
                <a:latin typeface="Inter"/>
              </a:rPr>
              <a:t>Niamato Consulting   ·   ThumaCheck   ·   Client : Thumalien   ·   M1 BDIA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55664"/>
            <a:ext cx="1490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7C8584"/>
                </a:solidFill>
                <a:latin typeface="Inter"/>
              </a:rPr>
              <a:t>4 / 17</a:t>
            </a:r>
          </a:p>
        </p:txBody>
      </p:sp>
      <p:pic>
        <p:nvPicPr>
          <p:cNvPr id="33" name="Picture 32" descr="logo_h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1874519" cy="8283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F8265"/>
                </a:solidFill>
                <a:latin typeface="Inter"/>
              </a:rPr>
              <a:t>LE TOURNANT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8778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D96A4D"/>
                </a:solidFill>
                <a:latin typeface="Inter"/>
              </a:rPr>
              <a:t>F1 = 0.99 — le piège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868680" cy="45720"/>
          </a:xfrm>
          <a:prstGeom prst="rect">
            <a:avLst/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212080" cy="3703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3F40"/>
                </a:solidFill>
                <a:latin typeface="Inter"/>
              </a:rPr>
              <a:t>CROSS-VALIDATION 5-FOLD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02E2F"/>
                </a:solidFill>
                <a:latin typeface="Inter"/>
              </a:rPr>
              <a:t>F1 macro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51460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700" b="1" i="0">
                <a:solidFill>
                  <a:srgbClr val="247549"/>
                </a:solidFill>
                <a:latin typeface="Inter"/>
              </a:rPr>
              <a:t>0.987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8152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02E2F"/>
                </a:solidFill>
                <a:latin typeface="Inter"/>
              </a:rPr>
              <a:t>Précision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8152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700" b="1" i="0">
                <a:solidFill>
                  <a:srgbClr val="247549"/>
                </a:solidFill>
                <a:latin typeface="Inter"/>
              </a:rPr>
              <a:t>0.992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4845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02E2F"/>
                </a:solidFill>
                <a:latin typeface="Inter"/>
              </a:rPr>
              <a:t>Recall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648456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700" b="1" i="0">
                <a:solidFill>
                  <a:srgbClr val="247549"/>
                </a:solidFill>
                <a:latin typeface="Inter"/>
              </a:rPr>
              <a:t>0.984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15383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02E2F"/>
                </a:solidFill>
                <a:latin typeface="Inter"/>
              </a:rPr>
              <a:t>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4215383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700" b="1" i="0">
                <a:solidFill>
                  <a:srgbClr val="247549"/>
                </a:solidFill>
                <a:latin typeface="Inter"/>
              </a:rPr>
              <a:t>0.989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4892040"/>
            <a:ext cx="4526280" cy="12801"/>
          </a:xfrm>
          <a:prstGeom prst="rect">
            <a:avLst/>
          </a:prstGeom>
          <a:solidFill>
            <a:srgbClr val="E4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029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47549"/>
                </a:solidFill>
                <a:latin typeface="Inter"/>
              </a:rPr>
              <a:t>✓  Tous les voyants au vert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36792" y="1783080"/>
            <a:ext cx="5212080" cy="3703320"/>
          </a:xfrm>
          <a:prstGeom prst="roundRect">
            <a:avLst>
              <a:gd name="adj" fmla="val 4000"/>
            </a:avLst>
          </a:prstGeom>
          <a:solidFill>
            <a:srgbClr val="0E3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2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F8265"/>
                </a:solidFill>
                <a:latin typeface="Inter"/>
              </a:rPr>
              <a:t>TOP COEFFICIENTS LOGREG (XAI)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248716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Inter"/>
              </a:rPr>
              <a:t>reuters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2487168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EF8265"/>
                </a:solidFill>
                <a:latin typeface="Inter"/>
              </a:rPr>
              <a:t>+0.84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2" y="289864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Inter"/>
              </a:rPr>
              <a:t>afp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898648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EF8265"/>
                </a:solidFill>
                <a:latin typeface="Inter"/>
              </a:rPr>
              <a:t>+0.71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6832" y="331012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Inter"/>
              </a:rPr>
              <a:t>ap_news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310128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EF8265"/>
                </a:solidFill>
                <a:latin typeface="Inter"/>
              </a:rPr>
              <a:t>+0.69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6832" y="372160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Inter"/>
              </a:rPr>
              <a:t>associated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721608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EF8265"/>
                </a:solidFill>
                <a:latin typeface="Inter"/>
              </a:rPr>
              <a:t>+0.63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6832" y="413308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Inter"/>
              </a:rPr>
              <a:t>press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4133088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EF8265"/>
                </a:solidFill>
                <a:latin typeface="Inter"/>
              </a:rPr>
              <a:t>+0.58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2" y="4709160"/>
            <a:ext cx="4617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F8265"/>
                </a:solidFill>
                <a:latin typeface="Inter"/>
              </a:rPr>
              <a:t>▲  Le modèle apprend le STYLE des</a:t>
            </a:r>
          </a:p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D9CFBE"/>
                </a:solidFill>
                <a:latin typeface="Inter"/>
              </a:rPr>
              <a:t>     agences de presse, pas les faits.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89788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1">
                <a:solidFill>
                  <a:srgbClr val="D96A4D"/>
                </a:solidFill>
                <a:latin typeface="Inter"/>
              </a:rPr>
              <a:t>Sans XAI, nous aurions livré un modèle qui s'effondre en production.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6400800"/>
            <a:ext cx="10908792" cy="10058"/>
          </a:xfrm>
          <a:prstGeom prst="rect">
            <a:avLst/>
          </a:prstGeom>
          <a:solidFill>
            <a:srgbClr val="E4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584"/>
                </a:solidFill>
                <a:latin typeface="Inter"/>
              </a:rPr>
              <a:t>Niamato Consulting   ·   ThumaCheck   ·   Client : Thumalien   ·   M1 BDIA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455664"/>
            <a:ext cx="1490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7C8584"/>
                </a:solidFill>
                <a:latin typeface="Inter"/>
              </a:rPr>
              <a:t>5 / 17</a:t>
            </a:r>
          </a:p>
        </p:txBody>
      </p:sp>
      <p:pic>
        <p:nvPicPr>
          <p:cNvPr id="34" name="Picture 33" descr="logo_h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1874519" cy="8283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F8265"/>
                </a:solidFill>
                <a:latin typeface="Inter"/>
              </a:rPr>
              <a:t>LA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8778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0E3F40"/>
                </a:solidFill>
                <a:latin typeface="Inter"/>
              </a:rPr>
              <a:t>Architecture — 8 conteneurs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868680" cy="45720"/>
          </a:xfrm>
          <a:prstGeom prst="rect">
            <a:avLst/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25146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0C1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2514600" cy="82296"/>
          </a:xfrm>
          <a:prstGeom prst="rect">
            <a:avLst/>
          </a:prstGeom>
          <a:solidFill>
            <a:srgbClr val="B0C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67128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E3F40"/>
                </a:solidFill>
                <a:latin typeface="Inter"/>
              </a:rPr>
              <a:t>Bluesky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9464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C8584"/>
                </a:solidFill>
                <a:latin typeface="Inter"/>
              </a:rPr>
              <a:t>AT Proto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65960"/>
            <a:ext cx="25146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E3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965960"/>
            <a:ext cx="2514600" cy="82296"/>
          </a:xfrm>
          <a:prstGeom prst="rect">
            <a:avLst/>
          </a:prstGeom>
          <a:solidFill>
            <a:srgbClr val="0E3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167128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E3F40"/>
                </a:solidFill>
                <a:latin typeface="Inter"/>
              </a:rPr>
              <a:t>Collector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569464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C8584"/>
                </a:solidFill>
                <a:latin typeface="Inter"/>
              </a:rPr>
              <a:t>Python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65960"/>
            <a:ext cx="25146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E3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965960"/>
            <a:ext cx="2514600" cy="82296"/>
          </a:xfrm>
          <a:prstGeom prst="rect">
            <a:avLst/>
          </a:prstGeom>
          <a:solidFill>
            <a:srgbClr val="0E3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167128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E3F40"/>
                </a:solidFill>
                <a:latin typeface="Inter"/>
              </a:rPr>
              <a:t>MongoDB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69464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C8584"/>
                </a:solidFill>
                <a:latin typeface="Inter"/>
              </a:rPr>
              <a:t>storage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965960"/>
            <a:ext cx="25146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F8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06840" y="1965960"/>
            <a:ext cx="2514600" cy="82296"/>
          </a:xfrm>
          <a:prstGeom prst="rect">
            <a:avLst/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2167128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E3F40"/>
                </a:solidFill>
                <a:latin typeface="Inter"/>
              </a:rPr>
              <a:t>Detector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569464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C8584"/>
                </a:solidFill>
                <a:latin typeface="Inter"/>
              </a:rPr>
              <a:t>V5 + V6 + CamBERT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977639"/>
            <a:ext cx="25146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E3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977639"/>
            <a:ext cx="2514600" cy="82296"/>
          </a:xfrm>
          <a:prstGeom prst="rect">
            <a:avLst/>
          </a:prstGeom>
          <a:solidFill>
            <a:srgbClr val="0E3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178807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E3F40"/>
                </a:solidFill>
                <a:latin typeface="Inter"/>
              </a:rPr>
              <a:t>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581144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C8584"/>
                </a:solidFill>
                <a:latin typeface="Inter"/>
              </a:rPr>
              <a:t>Cascade Stage 1+2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29000" y="3977639"/>
            <a:ext cx="25146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E3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29000" y="3977639"/>
            <a:ext cx="2514600" cy="82296"/>
          </a:xfrm>
          <a:prstGeom prst="rect">
            <a:avLst/>
          </a:prstGeom>
          <a:solidFill>
            <a:srgbClr val="0E3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4178807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E3F40"/>
                </a:solidFill>
                <a:latin typeface="Inter"/>
              </a:rPr>
              <a:t>Streamlit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581144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C8584"/>
                </a:solidFill>
                <a:latin typeface="Inter"/>
              </a:rPr>
              <a:t>Dashboard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977639"/>
            <a:ext cx="25146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F8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977639"/>
            <a:ext cx="2514600" cy="82296"/>
          </a:xfrm>
          <a:prstGeom prst="rect">
            <a:avLst/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4178807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E3F40"/>
                </a:solidFill>
                <a:latin typeface="Inter"/>
              </a:rPr>
              <a:t>XAI 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581144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C8584"/>
                </a:solidFill>
                <a:latin typeface="Inter"/>
              </a:rPr>
              <a:t>SHAP + Captum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06840" y="3977639"/>
            <a:ext cx="25146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47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06840" y="3977639"/>
            <a:ext cx="2514600" cy="82296"/>
          </a:xfrm>
          <a:prstGeom prst="rect">
            <a:avLst/>
          </a:prstGeom>
          <a:solidFill>
            <a:srgbClr val="247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4178807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E3F40"/>
                </a:solidFill>
                <a:latin typeface="Inter"/>
              </a:rPr>
              <a:t>Monitoring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581144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C8584"/>
                </a:solidFill>
                <a:latin typeface="Inter"/>
              </a:rPr>
              <a:t>CodeCarbon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91256" y="2148840"/>
            <a:ext cx="2286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EF8265"/>
                </a:solidFill>
                <a:latin typeface="Inter"/>
              </a:rPr>
              <a:t>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0176" y="2148840"/>
            <a:ext cx="2286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EF8265"/>
                </a:solidFill>
                <a:latin typeface="Inter"/>
              </a:rPr>
              <a:t>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69096" y="2148840"/>
            <a:ext cx="2286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EF8265"/>
                </a:solidFill>
                <a:latin typeface="Inter"/>
              </a:rPr>
              <a:t>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3035808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EF8265"/>
                </a:solidFill>
                <a:latin typeface="Inter"/>
              </a:rPr>
              <a:t>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29000" y="3035808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EF8265"/>
                </a:solidFill>
                <a:latin typeface="Inter"/>
              </a:rPr>
              <a:t>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035808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EF8265"/>
                </a:solidFill>
                <a:latin typeface="Inter"/>
              </a:rPr>
              <a:t>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6840" y="3035808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EF8265"/>
                </a:solidFill>
                <a:latin typeface="Inter"/>
              </a:rPr>
              <a:t>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989320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7C8584"/>
                </a:solidFill>
                <a:latin typeface="Inter"/>
              </a:rPr>
              <a:t>Données → IA → Décision   |   C4 Model   |   Docker Compose   |   FastAPI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6400800"/>
            <a:ext cx="10908792" cy="10058"/>
          </a:xfrm>
          <a:prstGeom prst="rect">
            <a:avLst/>
          </a:prstGeom>
          <a:solidFill>
            <a:srgbClr val="E4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584"/>
                </a:solidFill>
                <a:latin typeface="Inter"/>
              </a:rPr>
              <a:t>Niamato Consulting   ·   ThumaCheck   ·   Client : Thumalien   ·   M1 BDIA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6455664"/>
            <a:ext cx="1490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7C8584"/>
                </a:solidFill>
                <a:latin typeface="Inter"/>
              </a:rPr>
              <a:t>6 / 17</a:t>
            </a:r>
          </a:p>
        </p:txBody>
      </p:sp>
      <p:pic>
        <p:nvPicPr>
          <p:cNvPr id="48" name="Picture 47" descr="logo_h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1874519" cy="8283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F8265"/>
                </a:solidFill>
                <a:latin typeface="Inter"/>
              </a:rPr>
              <a:t>SOUS LE CAPOT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8778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0E3F40"/>
                </a:solidFill>
                <a:latin typeface="Inter"/>
              </a:rPr>
              <a:t>Pipeline cascade — inférence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868680" cy="45720"/>
          </a:xfrm>
          <a:prstGeom prst="rect">
            <a:avLst/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874519"/>
            <a:ext cx="1325880" cy="566928"/>
          </a:xfrm>
          <a:prstGeom prst="roundRect">
            <a:avLst>
              <a:gd name="adj" fmla="val 18000"/>
            </a:avLst>
          </a:prstGeom>
          <a:solidFill>
            <a:srgbClr val="0E3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1325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Inter"/>
              </a:rPr>
              <a:t>User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527048" y="2468880"/>
            <a:ext cx="10972" cy="2834640"/>
          </a:xfrm>
          <a:prstGeom prst="rect">
            <a:avLst/>
          </a:prstGeom>
          <a:solidFill>
            <a:srgbClr val="E4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23160" y="1874519"/>
            <a:ext cx="1325880" cy="566928"/>
          </a:xfrm>
          <a:prstGeom prst="roundRect">
            <a:avLst>
              <a:gd name="adj" fmla="val 18000"/>
            </a:avLst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1874519"/>
            <a:ext cx="1325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Inter"/>
              </a:rPr>
              <a:t>Stage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81528" y="2468880"/>
            <a:ext cx="10972" cy="2834640"/>
          </a:xfrm>
          <a:prstGeom prst="rect">
            <a:avLst/>
          </a:prstGeom>
          <a:solidFill>
            <a:srgbClr val="E4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77639" y="1874519"/>
            <a:ext cx="1325880" cy="566928"/>
          </a:xfrm>
          <a:prstGeom prst="roundRect">
            <a:avLst>
              <a:gd name="adj" fmla="val 18000"/>
            </a:avLst>
          </a:prstGeom>
          <a:solidFill>
            <a:srgbClr val="0E3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39" y="1874519"/>
            <a:ext cx="1325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Inter"/>
              </a:rPr>
              <a:t>V5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36007" y="2468880"/>
            <a:ext cx="10972" cy="2834640"/>
          </a:xfrm>
          <a:prstGeom prst="rect">
            <a:avLst/>
          </a:prstGeom>
          <a:solidFill>
            <a:srgbClr val="E4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32120" y="1874519"/>
            <a:ext cx="1325880" cy="566928"/>
          </a:xfrm>
          <a:prstGeom prst="roundRect">
            <a:avLst>
              <a:gd name="adj" fmla="val 18000"/>
            </a:avLst>
          </a:prstGeom>
          <a:solidFill>
            <a:srgbClr val="0E3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32120" y="1874519"/>
            <a:ext cx="1325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Inter"/>
              </a:rPr>
              <a:t>V6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0488" y="2468880"/>
            <a:ext cx="10972" cy="2834640"/>
          </a:xfrm>
          <a:prstGeom prst="rect">
            <a:avLst/>
          </a:prstGeom>
          <a:solidFill>
            <a:srgbClr val="E4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86600" y="1874519"/>
            <a:ext cx="1325880" cy="566928"/>
          </a:xfrm>
          <a:prstGeom prst="roundRect">
            <a:avLst>
              <a:gd name="adj" fmla="val 18000"/>
            </a:avLst>
          </a:prstGeom>
          <a:solidFill>
            <a:srgbClr val="0E3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1874519"/>
            <a:ext cx="1325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Inter"/>
              </a:rPr>
              <a:t>CamBERT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44968" y="2468880"/>
            <a:ext cx="10972" cy="2834640"/>
          </a:xfrm>
          <a:prstGeom prst="rect">
            <a:avLst/>
          </a:prstGeom>
          <a:solidFill>
            <a:srgbClr val="E4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41080" y="1874519"/>
            <a:ext cx="1325880" cy="566928"/>
          </a:xfrm>
          <a:prstGeom prst="roundRect">
            <a:avLst>
              <a:gd name="adj" fmla="val 18000"/>
            </a:avLst>
          </a:prstGeom>
          <a:solidFill>
            <a:srgbClr val="0E3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1874519"/>
            <a:ext cx="1325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Inter"/>
              </a:rPr>
              <a:t>V8 Méta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99448" y="2468880"/>
            <a:ext cx="10972" cy="2834640"/>
          </a:xfrm>
          <a:prstGeom prst="rect">
            <a:avLst/>
          </a:prstGeom>
          <a:solidFill>
            <a:srgbClr val="E4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195559" y="1874519"/>
            <a:ext cx="1325880" cy="566928"/>
          </a:xfrm>
          <a:prstGeom prst="roundRect">
            <a:avLst>
              <a:gd name="adj" fmla="val 18000"/>
            </a:avLst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95559" y="1874519"/>
            <a:ext cx="1325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Inter"/>
              </a:rPr>
              <a:t>XAI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853928" y="2468880"/>
            <a:ext cx="10972" cy="2834640"/>
          </a:xfrm>
          <a:prstGeom prst="rect">
            <a:avLst/>
          </a:prstGeom>
          <a:solidFill>
            <a:srgbClr val="E4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527048" y="2889504"/>
            <a:ext cx="1554480" cy="14630"/>
          </a:xfrm>
          <a:prstGeom prst="rect">
            <a:avLst/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27048" y="268833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E3F40"/>
                </a:solidFill>
                <a:latin typeface="Inter"/>
              </a:rPr>
              <a:t>texte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81528" y="3273552"/>
            <a:ext cx="777240" cy="14630"/>
          </a:xfrm>
          <a:prstGeom prst="rect">
            <a:avLst/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72968" y="3054096"/>
            <a:ext cx="20116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E3F40"/>
                </a:solidFill>
                <a:latin typeface="Inter"/>
              </a:rPr>
              <a:t>opinion 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81528" y="3657600"/>
            <a:ext cx="1554479" cy="14630"/>
          </a:xfrm>
          <a:prstGeom prst="rect">
            <a:avLst/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81528" y="3456432"/>
            <a:ext cx="1554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E3F40"/>
                </a:solidFill>
                <a:latin typeface="Inter"/>
              </a:rPr>
              <a:t>si factuel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36007" y="4041648"/>
            <a:ext cx="1554480" cy="14630"/>
          </a:xfrm>
          <a:prstGeom prst="rect">
            <a:avLst/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36007" y="384048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E3F40"/>
                </a:solidFill>
                <a:latin typeface="Inter"/>
              </a:rPr>
              <a:t>score TF-IDF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0488" y="4425696"/>
            <a:ext cx="1554480" cy="14630"/>
          </a:xfrm>
          <a:prstGeom prst="rect">
            <a:avLst/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0488" y="422452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E3F40"/>
                </a:solidFill>
                <a:latin typeface="Inter"/>
              </a:rPr>
              <a:t>score style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44968" y="4809744"/>
            <a:ext cx="1554479" cy="14630"/>
          </a:xfrm>
          <a:prstGeom prst="rect">
            <a:avLst/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44968" y="4608576"/>
            <a:ext cx="1554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E3F40"/>
                </a:solidFill>
                <a:latin typeface="Inter"/>
              </a:rPr>
              <a:t>embedding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99448" y="5193792"/>
            <a:ext cx="1554479" cy="14630"/>
          </a:xfrm>
          <a:prstGeom prst="rect">
            <a:avLst/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99448" y="4992624"/>
            <a:ext cx="1554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E3F40"/>
                </a:solidFill>
                <a:latin typeface="Inter"/>
              </a:rPr>
              <a:t>décomposition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27048" y="5577840"/>
            <a:ext cx="9326880" cy="14630"/>
          </a:xfrm>
          <a:prstGeom prst="rect">
            <a:avLst/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27048" y="5376672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E3F40"/>
                </a:solidFill>
                <a:latin typeface="Inter"/>
              </a:rPr>
              <a:t>score + XAI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5897880"/>
            <a:ext cx="2926080" cy="457200"/>
          </a:xfrm>
          <a:prstGeom prst="roundRect">
            <a:avLst>
              <a:gd name="adj" fmla="val 20000"/>
            </a:avLst>
          </a:prstGeom>
          <a:solidFill>
            <a:srgbClr val="F6F1E8"/>
          </a:solidFill>
          <a:ln w="12700">
            <a:solidFill>
              <a:srgbClr val="EF8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897880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E3F40"/>
                </a:solidFill>
                <a:latin typeface="Inter"/>
              </a:rPr>
              <a:t>▸  1.5 ms au total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95360" y="5897880"/>
            <a:ext cx="2953512" cy="457200"/>
          </a:xfrm>
          <a:prstGeom prst="roundRect">
            <a:avLst>
              <a:gd name="adj" fmla="val 20000"/>
            </a:avLst>
          </a:prstGeom>
          <a:solidFill>
            <a:srgbClr val="F6F1E8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95360" y="5897880"/>
            <a:ext cx="29535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E3F40"/>
                </a:solidFill>
                <a:latin typeface="Inter"/>
              </a:rPr>
              <a:t>opinion  ≠  fake news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6400800"/>
            <a:ext cx="10908792" cy="10058"/>
          </a:xfrm>
          <a:prstGeom prst="rect">
            <a:avLst/>
          </a:prstGeom>
          <a:solidFill>
            <a:srgbClr val="E4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584"/>
                </a:solidFill>
                <a:latin typeface="Inter"/>
              </a:rPr>
              <a:t>Niamato Consulting   ·   ThumaCheck   ·   Client : Thumalien   ·   M1 BDIA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6455664"/>
            <a:ext cx="1490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7C8584"/>
                </a:solidFill>
                <a:latin typeface="Inter"/>
              </a:rPr>
              <a:t>7 / 17</a:t>
            </a:r>
          </a:p>
        </p:txBody>
      </p:sp>
      <p:pic>
        <p:nvPicPr>
          <p:cNvPr id="49" name="Picture 48" descr="logo_h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1874519" cy="8283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F8265"/>
                </a:solidFill>
                <a:latin typeface="Inter"/>
              </a:rPr>
              <a:t>LA RIGUEUR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8778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0E3F40"/>
                </a:solidFill>
                <a:latin typeface="Inter"/>
              </a:rPr>
              <a:t>La fidélité des explications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868680" cy="45720"/>
          </a:xfrm>
          <a:prstGeom prst="rect">
            <a:avLst/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91056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7C8584"/>
                </a:solidFill>
                <a:latin typeface="Inter"/>
              </a:rPr>
              <a:t>Au-delà de SHAP : la mesurer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10908792" cy="960120"/>
          </a:xfrm>
          <a:prstGeom prst="roundRect">
            <a:avLst>
              <a:gd name="adj" fmla="val 8000"/>
            </a:avLst>
          </a:prstGeom>
          <a:solidFill>
            <a:srgbClr val="0E3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49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Inter"/>
              </a:rPr>
              <a:t>Comment savoir que vos explications reflètent vraiment</a:t>
            </a:r>
          </a:p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Inter"/>
              </a:rPr>
              <a:t>le comportement réel du modèle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EF8265"/>
                </a:solidFill>
                <a:latin typeface="Inter"/>
              </a:rPr>
              <a:t>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56432"/>
            <a:ext cx="10908792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F8265"/>
                </a:solidFill>
                <a:latin typeface="Inter"/>
              </a:rPr>
              <a:t>PROTOCOLE ERASER  </a:t>
            </a:r>
            <a:r>
              <a:rPr sz="1300" b="0" i="0">
                <a:solidFill>
                  <a:srgbClr val="7C8584"/>
                </a:solidFill>
                <a:latin typeface="Inter"/>
              </a:rPr>
              <a:t>(DeYoung et al., ACL 2020)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160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F8265"/>
                </a:solidFill>
                <a:latin typeface="Inter"/>
              </a:rP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1605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02E2F"/>
                </a:solidFill>
                <a:latin typeface="Inter"/>
              </a:rPr>
              <a:t>Identifier les top-k features via SHAP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52628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F8265"/>
                </a:solidFill>
                <a:latin typeface="Inter"/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5262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02E2F"/>
                </a:solidFill>
                <a:latin typeface="Inter"/>
              </a:rPr>
              <a:t>Masquer ces features (valeur = 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89204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F8265"/>
                </a:solidFill>
                <a:latin typeface="Inter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892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02E2F"/>
                </a:solidFill>
                <a:latin typeface="Inter"/>
              </a:rPr>
              <a:t>Mesurer la chute de P(suspect)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25780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F8265"/>
                </a:solidFill>
                <a:latin typeface="Inter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2578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02E2F"/>
                </a:solidFill>
                <a:latin typeface="Inter"/>
              </a:rPr>
              <a:t>Comparer à un masquage aléatoire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687568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3F40"/>
                </a:solidFill>
                <a:latin typeface="Inter"/>
              </a:rPr>
              <a:t>Si l'explication est fidèle :   </a:t>
            </a:r>
            <a:r>
              <a:rPr sz="1300" b="1" i="0">
                <a:solidFill>
                  <a:srgbClr val="247549"/>
                </a:solidFill>
                <a:latin typeface="Inter"/>
              </a:rPr>
              <a:t>chute_attribution  ≫  chute_random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00800"/>
            <a:ext cx="10908792" cy="10058"/>
          </a:xfrm>
          <a:prstGeom prst="rect">
            <a:avLst/>
          </a:prstGeom>
          <a:solidFill>
            <a:srgbClr val="E4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584"/>
                </a:solidFill>
                <a:latin typeface="Inter"/>
              </a:rPr>
              <a:t>Niamato Consulting   ·   ThumaCheck   ·   Client : Thumalien   ·   M1 BDIA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455664"/>
            <a:ext cx="1490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7C8584"/>
                </a:solidFill>
                <a:latin typeface="Inter"/>
              </a:rPr>
              <a:t>8 / 17</a:t>
            </a:r>
          </a:p>
        </p:txBody>
      </p:sp>
      <p:pic>
        <p:nvPicPr>
          <p:cNvPr id="23" name="Picture 22" descr="logo_h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1874519" cy="8283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F8265"/>
                </a:solidFill>
                <a:latin typeface="Inter"/>
              </a:rPr>
              <a:t>LE RÉSULTAT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8778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247549"/>
                </a:solidFill>
                <a:latin typeface="Inter"/>
              </a:rPr>
              <a:t>Faithfulness — uplift + 21 %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868680" cy="45720"/>
          </a:xfrm>
          <a:prstGeom prst="rect">
            <a:avLst/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931920" cy="3703320"/>
          </a:xfrm>
          <a:prstGeom prst="roundRect">
            <a:avLst>
              <a:gd name="adj" fmla="val 5000"/>
            </a:avLst>
          </a:prstGeom>
          <a:solidFill>
            <a:srgbClr val="0E3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3566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200" b="1" i="0">
                <a:solidFill>
                  <a:srgbClr val="EF8265"/>
                </a:solidFill>
                <a:latin typeface="Inter"/>
              </a:rPr>
              <a:t>+0.21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1188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Inter"/>
              </a:rPr>
              <a:t>uplift d'attribution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Inter"/>
              </a:rPr>
              <a:t>5.6×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D9CFBE"/>
                </a:solidFill>
                <a:latin typeface="Inter"/>
              </a:rPr>
              <a:t>vs masquage aléatoire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783080"/>
            <a:ext cx="6702552" cy="3703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3F40"/>
                </a:solidFill>
                <a:latin typeface="Inter"/>
              </a:rPr>
              <a:t>MÉTRIQUES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5146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02E2F"/>
                </a:solidFill>
                <a:latin typeface="Inter"/>
              </a:rPr>
              <a:t>AOPC attribution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514600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 i="0">
                <a:solidFill>
                  <a:srgbClr val="247549"/>
                </a:solidFill>
                <a:latin typeface="Inter"/>
              </a:rPr>
              <a:t>0.253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308152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02E2F"/>
                </a:solidFill>
                <a:latin typeface="Inter"/>
              </a:rPr>
              <a:t>AOPC random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3081528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 i="0">
                <a:solidFill>
                  <a:srgbClr val="7C8584"/>
                </a:solidFill>
                <a:latin typeface="Inter"/>
              </a:rPr>
              <a:t>0.045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64845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02E2F"/>
                </a:solidFill>
                <a:latin typeface="Inter"/>
              </a:rPr>
              <a:t>Comprehensiveness @5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3648456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 i="0">
                <a:solidFill>
                  <a:srgbClr val="0E3F40"/>
                </a:solidFill>
                <a:latin typeface="Inter"/>
              </a:rPr>
              <a:t>0.232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4215383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02E2F"/>
                </a:solidFill>
                <a:latin typeface="Inter"/>
              </a:rPr>
              <a:t>Sufficiency @5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4215383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 i="0">
                <a:solidFill>
                  <a:srgbClr val="0E3F40"/>
                </a:solidFill>
                <a:latin typeface="Inter"/>
              </a:rPr>
              <a:t>0.058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4846320"/>
            <a:ext cx="5989320" cy="12801"/>
          </a:xfrm>
          <a:prstGeom prst="rect">
            <a:avLst/>
          </a:prstGeom>
          <a:solidFill>
            <a:srgbClr val="E4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498348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47549"/>
                </a:solidFill>
                <a:latin typeface="Inter"/>
              </a:rPr>
              <a:t>✓  Cible &gt; +0.10   —   atteinte ×2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00800"/>
            <a:ext cx="10908792" cy="10058"/>
          </a:xfrm>
          <a:prstGeom prst="rect">
            <a:avLst/>
          </a:prstGeom>
          <a:solidFill>
            <a:srgbClr val="E4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584"/>
                </a:solidFill>
                <a:latin typeface="Inter"/>
              </a:rPr>
              <a:t>Niamato Consulting   ·   ThumaCheck   ·   Client : Thumalien   ·   M1 BDIA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55664"/>
            <a:ext cx="1490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7C8584"/>
                </a:solidFill>
                <a:latin typeface="Inter"/>
              </a:rPr>
              <a:t>9 / 17</a:t>
            </a:r>
          </a:p>
        </p:txBody>
      </p:sp>
      <p:pic>
        <p:nvPicPr>
          <p:cNvPr id="25" name="Picture 24" descr="logo_h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1874519" cy="8283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F8265"/>
                </a:solidFill>
                <a:latin typeface="Inter"/>
              </a:rPr>
              <a:t>L'EXIGENCE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8778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0E3F40"/>
                </a:solidFill>
                <a:latin typeface="Inter"/>
              </a:rPr>
              <a:t>Qualité industrielle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868680" cy="45720"/>
          </a:xfrm>
          <a:prstGeom prst="rect">
            <a:avLst/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276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7C8584"/>
                </a:solidFill>
                <a:latin typeface="Inter"/>
              </a:rPr>
              <a:t>501 tests   ·   80 % coverage   ·   80,3 % mutation kill 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3520440" cy="91440"/>
          </a:xfrm>
          <a:prstGeom prst="rect">
            <a:avLst/>
          </a:prstGeom>
          <a:solidFill>
            <a:srgbClr val="0E3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7C8584"/>
                </a:solidFill>
                <a:latin typeface="Inter"/>
              </a:rPr>
              <a:t>PYTEST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3520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0E3F40"/>
                </a:solidFill>
                <a:latin typeface="Inter"/>
              </a:rPr>
              <a:t>501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202E2F"/>
                </a:solidFill>
                <a:latin typeface="Inter"/>
              </a:rPr>
              <a:t>tests passants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7C8584"/>
                </a:solidFill>
                <a:latin typeface="Inter"/>
              </a:rPr>
              <a:t>0 échec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7C8584"/>
                </a:solidFill>
                <a:latin typeface="Inter"/>
              </a:rPr>
              <a:t>0 skip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1965960"/>
            <a:ext cx="3520440" cy="91440"/>
          </a:xfrm>
          <a:prstGeom prst="rect">
            <a:avLst/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4256" y="2240280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7C8584"/>
                </a:solidFill>
                <a:latin typeface="Inter"/>
              </a:rPr>
              <a:t>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6" y="2697480"/>
            <a:ext cx="3520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EF8265"/>
                </a:solidFill>
                <a:latin typeface="Inter"/>
              </a:rPr>
              <a:t>80 %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6" y="3703320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202E2F"/>
                </a:solidFill>
                <a:latin typeface="Inter"/>
              </a:rPr>
              <a:t>line 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434340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7C8584"/>
                </a:solidFill>
                <a:latin typeface="Inter"/>
              </a:rPr>
              <a:t>77,9 % branch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7C8584"/>
                </a:solidFill>
                <a:latin typeface="Inter"/>
              </a:rPr>
              <a:t>quality gate CI --fail-under=75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1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28431" y="1965960"/>
            <a:ext cx="3520440" cy="91440"/>
          </a:xfrm>
          <a:prstGeom prst="rect">
            <a:avLst/>
          </a:prstGeom>
          <a:solidFill>
            <a:srgbClr val="247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28431" y="2240280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7C8584"/>
                </a:solidFill>
                <a:latin typeface="Inter"/>
              </a:rPr>
              <a:t>MUTMUT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8431" y="2697480"/>
            <a:ext cx="3520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247549"/>
                </a:solidFill>
                <a:latin typeface="Inter"/>
              </a:rPr>
              <a:t>80,3 %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8431" y="3703320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202E2F"/>
                </a:solidFill>
                <a:latin typeface="Inter"/>
              </a:rPr>
              <a:t>kill rate (143 / 178)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434340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7C8584"/>
                </a:solidFill>
                <a:latin typeface="Inter"/>
              </a:rPr>
              <a:t>&gt; benchmark Google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7C8584"/>
                </a:solidFill>
                <a:latin typeface="Inter"/>
              </a:rPr>
              <a:t>(60–75 %)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43600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C8584"/>
                </a:solidFill>
                <a:latin typeface="Inter"/>
              </a:rPr>
              <a:t>De la quantité à la qualité — chaque ligne de production est validée.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400800"/>
            <a:ext cx="10908792" cy="10058"/>
          </a:xfrm>
          <a:prstGeom prst="rect">
            <a:avLst/>
          </a:prstGeom>
          <a:solidFill>
            <a:srgbClr val="E4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584"/>
                </a:solidFill>
                <a:latin typeface="Inter"/>
              </a:rPr>
              <a:t>Niamato Consulting   ·   ThumaCheck   ·   Client : Thumalien   ·   M1 BDIA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455664"/>
            <a:ext cx="1490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7C8584"/>
                </a:solidFill>
                <a:latin typeface="Inter"/>
              </a:rPr>
              <a:t>10 / 17</a:t>
            </a:r>
          </a:p>
        </p:txBody>
      </p:sp>
      <p:pic>
        <p:nvPicPr>
          <p:cNvPr id="28" name="Picture 27" descr="logo_h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1874519" cy="82830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F8265"/>
                </a:solidFill>
                <a:latin typeface="Inter"/>
              </a:rPr>
              <a:t>LE CADRE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8778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0E3F40"/>
                </a:solidFill>
                <a:latin typeface="Inter"/>
              </a:rPr>
              <a:t>Conformité réglementaire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868680" cy="45720"/>
          </a:xfrm>
          <a:prstGeom prst="rect">
            <a:avLst/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30952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330952" cy="91440"/>
          </a:xfrm>
          <a:prstGeom prst="rect">
            <a:avLst/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2084831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E3F40"/>
                </a:solidFill>
                <a:latin typeface="Inter"/>
              </a:rPr>
              <a:t>AI Act  (UE 2024/1689)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450592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7C8584"/>
                </a:solidFill>
                <a:latin typeface="Inter"/>
              </a:rPr>
              <a:t>pleinement applicable août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2926080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47549"/>
                </a:solidFill>
                <a:latin typeface="Inter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292608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02E2F"/>
                </a:solidFill>
                <a:latin typeface="Inter"/>
              </a:rPr>
              <a:t>Art. 13 — transparence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325526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C8584"/>
                </a:solidFill>
                <a:latin typeface="Inter"/>
              </a:rPr>
              <a:t>Model Card MC-THUM-2026-001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19" y="3794760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47549"/>
                </a:solidFill>
                <a:latin typeface="Inter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3794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02E2F"/>
                </a:solidFill>
                <a:latin typeface="Inter"/>
              </a:rPr>
              <a:t>Art. 14 — supervision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412394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C8584"/>
                </a:solidFill>
                <a:latin typeface="Inter"/>
              </a:rPr>
              <a:t>Décomposition β·x dans le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19" y="4663440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47549"/>
                </a:solidFill>
                <a:latin typeface="Inter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19" y="466344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02E2F"/>
                </a:solidFill>
                <a:latin typeface="Inter"/>
              </a:rPr>
              <a:t>Risque limité classifié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19" y="499262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C8584"/>
                </a:solidFill>
                <a:latin typeface="Inter"/>
              </a:rPr>
              <a:t>Doc 02 § 4.1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828800"/>
            <a:ext cx="5330952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828800"/>
            <a:ext cx="5330952" cy="91440"/>
          </a:xfrm>
          <a:prstGeom prst="rect">
            <a:avLst/>
          </a:prstGeom>
          <a:solidFill>
            <a:srgbClr val="0E3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59" y="2084831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E3F40"/>
                </a:solidFill>
                <a:latin typeface="Inter"/>
              </a:rPr>
              <a:t>RGPD  (UE 2016/679)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2450592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7C8584"/>
                </a:solidFill>
                <a:latin typeface="Inter"/>
              </a:rPr>
              <a:t>protection des données personnelles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2926080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47549"/>
                </a:solidFill>
                <a:latin typeface="Inter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59" y="292608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02E2F"/>
                </a:solidFill>
                <a:latin typeface="Inter"/>
              </a:rPr>
              <a:t>Art. 22 — décision auto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59" y="325526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C8584"/>
                </a:solidFill>
                <a:latin typeface="Inter"/>
              </a:rPr>
              <a:t>Droit à l'explication SHAP + Captum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59" y="3794760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47549"/>
                </a:solidFill>
                <a:latin typeface="Inter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59" y="3794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02E2F"/>
                </a:solidFill>
                <a:latin typeface="Inter"/>
              </a:rPr>
              <a:t>Art. 35 — AIPD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9" y="412394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C8584"/>
                </a:solidFill>
                <a:latin typeface="Inter"/>
              </a:rPr>
              <a:t>Document RGPD-THUM-2026-001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4663440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47549"/>
                </a:solidFill>
                <a:latin typeface="Inter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59" y="466344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02E2F"/>
                </a:solidFill>
                <a:latin typeface="Inter"/>
              </a:rPr>
              <a:t>Base légale art. 6.1.f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59" y="499262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C8584"/>
                </a:solidFill>
                <a:latin typeface="Inter"/>
              </a:rPr>
              <a:t>Posts publics, intérêt légitime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6400800"/>
            <a:ext cx="10908792" cy="10058"/>
          </a:xfrm>
          <a:prstGeom prst="rect">
            <a:avLst/>
          </a:prstGeom>
          <a:solidFill>
            <a:srgbClr val="E4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584"/>
                </a:solidFill>
                <a:latin typeface="Inter"/>
              </a:rPr>
              <a:t>Niamato Consulting   ·   ThumaCheck   ·   Client : Thumalien   ·   M1 BDIA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455664"/>
            <a:ext cx="1490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7C8584"/>
                </a:solidFill>
                <a:latin typeface="Inter"/>
              </a:rPr>
              <a:t>11 / 17</a:t>
            </a:r>
          </a:p>
        </p:txBody>
      </p:sp>
      <p:pic>
        <p:nvPicPr>
          <p:cNvPr id="34" name="Picture 33" descr="logo_h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1874519" cy="8283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F8265"/>
                </a:solidFill>
                <a:latin typeface="Inter"/>
              </a:rPr>
              <a:t>L'EMPREINTE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8778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247549"/>
                </a:solidFill>
                <a:latin typeface="Inter"/>
              </a:rPr>
              <a:t>Green IT — ≈ 6,88 g CO₂ au total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868680" cy="45720"/>
          </a:xfrm>
          <a:prstGeom prst="rect">
            <a:avLst/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486400" cy="3703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3F40"/>
                </a:solidFill>
                <a:latin typeface="Inter"/>
              </a:rPr>
              <a:t>RÉPARTITION DE L'EMPREINTE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87168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02E2F"/>
                </a:solidFill>
                <a:latin typeface="Inter"/>
              </a:rPr>
              <a:t>RoBERTa EN (V1+V2)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487168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7C8584"/>
                </a:solidFill>
                <a:latin typeface="Inter"/>
              </a:rPr>
              <a:t>50 %  (3,47 g)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2761488"/>
            <a:ext cx="2491740" cy="82296"/>
          </a:xfrm>
          <a:prstGeom prst="rect">
            <a:avLst/>
          </a:prstGeom>
          <a:solidFill>
            <a:srgbClr val="0E3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962656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02E2F"/>
                </a:solidFill>
                <a:latin typeface="Inter"/>
              </a:rPr>
              <a:t>V5 LogReg (3 runs)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962656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7C8584"/>
                </a:solidFill>
                <a:latin typeface="Inter"/>
              </a:rPr>
              <a:t>32 %  (2,18 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3236976"/>
            <a:ext cx="1594713" cy="82296"/>
          </a:xfrm>
          <a:prstGeom prst="rect">
            <a:avLst/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38144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02E2F"/>
                </a:solidFill>
                <a:latin typeface="Inter"/>
              </a:rPr>
              <a:t>CamemBERT fine-tune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438144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7C8584"/>
                </a:solidFill>
                <a:latin typeface="Inter"/>
              </a:rPr>
              <a:t>7 %  (0,48 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3712464"/>
            <a:ext cx="348843" cy="82296"/>
          </a:xfrm>
          <a:prstGeom prst="rect">
            <a:avLst/>
          </a:prstGeom>
          <a:solidFill>
            <a:srgbClr val="95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913632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02E2F"/>
                </a:solidFill>
                <a:latin typeface="Inter"/>
              </a:rPr>
              <a:t>V6 GradientBoost*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913632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7C8584"/>
                </a:solidFill>
                <a:latin typeface="Inter"/>
              </a:rPr>
              <a:t>5 %  (~0,36 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4187952"/>
            <a:ext cx="249174" cy="82296"/>
          </a:xfrm>
          <a:prstGeom prst="rect">
            <a:avLst/>
          </a:prstGeom>
          <a:solidFill>
            <a:srgbClr val="B0C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38912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02E2F"/>
                </a:solidFill>
                <a:latin typeface="Inter"/>
              </a:rPr>
              <a:t>Pipeline XAI*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3891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7C8584"/>
                </a:solidFill>
                <a:latin typeface="Inter"/>
              </a:rPr>
              <a:t>3 %  (~0,23 g)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4663440"/>
            <a:ext cx="149504" cy="82296"/>
          </a:xfrm>
          <a:prstGeom prst="rect">
            <a:avLst/>
          </a:prstGeom>
          <a:solidFill>
            <a:srgbClr val="247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864608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02E2F"/>
                </a:solidFill>
                <a:latin typeface="Inter"/>
              </a:rPr>
              <a:t>Inférence cumulée*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864608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7C8584"/>
                </a:solidFill>
                <a:latin typeface="Inter"/>
              </a:rPr>
              <a:t>2 %  (~0,15 g)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" y="5138928"/>
            <a:ext cx="99669" cy="82296"/>
          </a:xfrm>
          <a:prstGeom prst="rect">
            <a:avLst/>
          </a:prstGeom>
          <a:solidFill>
            <a:srgbClr val="7C8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1783080"/>
            <a:ext cx="5212080" cy="3703320"/>
          </a:xfrm>
          <a:prstGeom prst="roundRect">
            <a:avLst>
              <a:gd name="adj" fmla="val 4000"/>
            </a:avLst>
          </a:prstGeom>
          <a:solidFill>
            <a:srgbClr val="F6F1E8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6832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3F40"/>
                </a:solidFill>
                <a:latin typeface="Inter"/>
              </a:rPr>
              <a:t>DÉCISION ARCHITECTURALE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6832" y="251460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6A4D"/>
                </a:solidFill>
                <a:latin typeface="Inter"/>
              </a:rPr>
              <a:t>→  Production temps réel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2843784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02E2F"/>
                </a:solidFill>
                <a:latin typeface="Inter"/>
              </a:rPr>
              <a:t>V5 seul — 1,5 ms, 0,6 g CO₂ / jour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2" y="342900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6A4D"/>
                </a:solidFill>
                <a:latin typeface="Inter"/>
              </a:rPr>
              <a:t>→  Analyse offline batch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3758184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02E2F"/>
                </a:solidFill>
                <a:latin typeface="Inter"/>
              </a:rPr>
              <a:t>V8 avec CamemBERT — 0,48 g entraînement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6832" y="434340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6A4D"/>
                </a:solidFill>
                <a:latin typeface="Inter"/>
              </a:rPr>
              <a:t>→  ROI Green 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4672584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02E2F"/>
                </a:solidFill>
                <a:latin typeface="Inter"/>
              </a:rPr>
              <a:t>frugalité en prod + puissance en analyse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56832" y="52578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7C8584"/>
                </a:solidFill>
                <a:latin typeface="Inter"/>
              </a:rPr>
              <a:t>Documenté — Model Card § 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943600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7C8584"/>
                </a:solidFill>
                <a:latin typeface="Inter"/>
              </a:rPr>
              <a:t>* estimé via CodeCarbon (Apple M4 Pro).   ≈ 30 mètres en voiture — empreinte quasi nulle.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6400800"/>
            <a:ext cx="10908792" cy="10058"/>
          </a:xfrm>
          <a:prstGeom prst="rect">
            <a:avLst/>
          </a:prstGeom>
          <a:solidFill>
            <a:srgbClr val="E4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584"/>
                </a:solidFill>
                <a:latin typeface="Inter"/>
              </a:rPr>
              <a:t>Niamato Consulting   ·   ThumaCheck   ·   Client : Thumalien   ·   M1 BDIA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6455664"/>
            <a:ext cx="1490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7C8584"/>
                </a:solidFill>
                <a:latin typeface="Inter"/>
              </a:rPr>
              <a:t>12 / 17</a:t>
            </a:r>
          </a:p>
        </p:txBody>
      </p:sp>
      <p:pic>
        <p:nvPicPr>
          <p:cNvPr id="38" name="Picture 37" descr="logo_h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1874519" cy="82830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F8265"/>
                </a:solidFill>
                <a:latin typeface="Inter"/>
              </a:rPr>
              <a:t>LA DÉMARCHE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8778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0E3F40"/>
                </a:solidFill>
                <a:latin typeface="Inter"/>
              </a:rPr>
              <a:t>Méthodologie &amp; organisation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868680" cy="45720"/>
          </a:xfrm>
          <a:prstGeom prst="rect">
            <a:avLst/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276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7C8584"/>
                </a:solidFill>
                <a:latin typeface="Inter"/>
              </a:rPr>
              <a:t>CRISP-DM adapté   ·   9 versions   ·   28 notebooks   ·   16 work packages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148132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6424" y="2121408"/>
            <a:ext cx="548640" cy="548640"/>
          </a:xfrm>
          <a:prstGeom prst="ellipse">
            <a:avLst/>
          </a:prstGeom>
          <a:solidFill>
            <a:srgbClr val="0E3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21214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1" y="2743200"/>
            <a:ext cx="13350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E3F40"/>
                </a:solidFill>
                <a:latin typeface="Inter"/>
              </a:rPr>
              <a:t>Comprendre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1" y="3090672"/>
            <a:ext cx="13350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7C8584"/>
                </a:solidFill>
                <a:latin typeface="Inter"/>
              </a:rPr>
              <a:t>Cahier des charges, 4 exigences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965960"/>
            <a:ext cx="18288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F8265"/>
                </a:solidFill>
                <a:latin typeface="Inter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9132" y="1965960"/>
            <a:ext cx="148132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65476" y="2121408"/>
            <a:ext cx="548640" cy="548640"/>
          </a:xfrm>
          <a:prstGeom prst="ellipse">
            <a:avLst/>
          </a:prstGeom>
          <a:solidFill>
            <a:srgbClr val="0E3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65476" y="21214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2284" y="2743200"/>
            <a:ext cx="13350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E3F40"/>
                </a:solidFill>
                <a:latin typeface="Inter"/>
              </a:rPr>
              <a:t>Explorer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72284" y="3090672"/>
            <a:ext cx="13350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7C8584"/>
                </a:solidFill>
                <a:latin typeface="Inter"/>
              </a:rPr>
              <a:t>245K posts, audit qualité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2172" y="1965960"/>
            <a:ext cx="18288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F8265"/>
                </a:solidFill>
                <a:latin typeface="Inter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58184" y="1965960"/>
            <a:ext cx="148132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24528" y="2121408"/>
            <a:ext cx="548640" cy="548640"/>
          </a:xfrm>
          <a:prstGeom prst="ellipse">
            <a:avLst/>
          </a:prstGeom>
          <a:solidFill>
            <a:srgbClr val="0E3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24528" y="21214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31336" y="2743200"/>
            <a:ext cx="13350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E3F40"/>
                </a:solidFill>
                <a:latin typeface="Inter"/>
              </a:rPr>
              <a:t>Préparer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31336" y="3090672"/>
            <a:ext cx="13350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7C8584"/>
                </a:solidFill>
                <a:latin typeface="Inter"/>
              </a:rPr>
              <a:t>Débiaisage Reuters, synth.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1224" y="1965960"/>
            <a:ext cx="18288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F8265"/>
                </a:solidFill>
                <a:latin typeface="Inter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17236" y="1965960"/>
            <a:ext cx="148132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83580" y="2121408"/>
            <a:ext cx="548640" cy="548640"/>
          </a:xfrm>
          <a:prstGeom prst="ellipse">
            <a:avLst/>
          </a:prstGeom>
          <a:solidFill>
            <a:srgbClr val="0E3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83580" y="21214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0388" y="2743200"/>
            <a:ext cx="13350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E3F40"/>
                </a:solidFill>
                <a:latin typeface="Inter"/>
              </a:rPr>
              <a:t>Modéliser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0388" y="3090672"/>
            <a:ext cx="13350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7C8584"/>
                </a:solidFill>
                <a:latin typeface="Inter"/>
              </a:rPr>
              <a:t>V1→V9, LogReg + CamemBERT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0276" y="1965960"/>
            <a:ext cx="18288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F8265"/>
                </a:solidFill>
                <a:latin typeface="Inter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76288" y="1965960"/>
            <a:ext cx="148132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42632" y="2121408"/>
            <a:ext cx="548640" cy="548640"/>
          </a:xfrm>
          <a:prstGeom prst="ellipse">
            <a:avLst/>
          </a:prstGeom>
          <a:solidFill>
            <a:srgbClr val="0E3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42632" y="21214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2743200"/>
            <a:ext cx="13350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E3F40"/>
                </a:solidFill>
                <a:latin typeface="Inter"/>
              </a:rPr>
              <a:t>Évaluer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090672"/>
            <a:ext cx="13350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7C8584"/>
                </a:solidFill>
                <a:latin typeface="Inter"/>
              </a:rPr>
              <a:t>Gold set 473, faithfulness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8" y="1965960"/>
            <a:ext cx="18288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F8265"/>
                </a:solidFill>
                <a:latin typeface="Inter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35340" y="1965960"/>
            <a:ext cx="148132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901684" y="2121408"/>
            <a:ext cx="548640" cy="548640"/>
          </a:xfrm>
          <a:prstGeom prst="ellipse">
            <a:avLst/>
          </a:prstGeom>
          <a:solidFill>
            <a:srgbClr val="0E3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01684" y="21214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8492" y="2743200"/>
            <a:ext cx="13350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E3F40"/>
                </a:solidFill>
                <a:latin typeface="Inter"/>
              </a:rPr>
              <a:t>Déployer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8492" y="3090672"/>
            <a:ext cx="13350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7C8584"/>
                </a:solidFill>
                <a:latin typeface="Inter"/>
              </a:rPr>
              <a:t>Docker, CI/CD, 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98380" y="1965960"/>
            <a:ext cx="18288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F8265"/>
                </a:solidFill>
                <a:latin typeface="Inter"/>
              </a:rPr>
              <a:t>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994392" y="1965960"/>
            <a:ext cx="148132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460736" y="2121408"/>
            <a:ext cx="548640" cy="548640"/>
          </a:xfrm>
          <a:prstGeom prst="ellipse">
            <a:avLst/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60736" y="21214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"/>
              </a:rPr>
              <a:t>9×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67544" y="2743200"/>
            <a:ext cx="13350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E3F40"/>
                </a:solidFill>
                <a:latin typeface="Inter"/>
              </a:rPr>
              <a:t>Itérer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67544" y="3090672"/>
            <a:ext cx="13350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7C8584"/>
                </a:solidFill>
                <a:latin typeface="Inter"/>
              </a:rPr>
              <a:t>9 versions en 6 mois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3977639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F8265"/>
                </a:solidFill>
                <a:latin typeface="Inter"/>
              </a:rPr>
              <a:t>OUTILS &amp; INFRASTRUCTURE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4370832"/>
            <a:ext cx="3520440" cy="749808"/>
          </a:xfrm>
          <a:prstGeom prst="roundRect">
            <a:avLst>
              <a:gd name="adj" fmla="val 8000"/>
            </a:avLst>
          </a:prstGeom>
          <a:solidFill>
            <a:srgbClr val="F6F1E8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" y="448056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3F40"/>
                </a:solidFill>
                <a:latin typeface="Inter"/>
              </a:rPr>
              <a:t>Git + GitHub Actions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4791456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C8584"/>
                </a:solidFill>
                <a:latin typeface="Inter"/>
              </a:rPr>
              <a:t>Versioning, CI/CD, quality gates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34256" y="4370832"/>
            <a:ext cx="3520440" cy="749808"/>
          </a:xfrm>
          <a:prstGeom prst="roundRect">
            <a:avLst>
              <a:gd name="adj" fmla="val 8000"/>
            </a:avLst>
          </a:prstGeom>
          <a:solidFill>
            <a:srgbClr val="F6F1E8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62856" y="448056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3F40"/>
                </a:solidFill>
                <a:latin typeface="Inter"/>
              </a:rPr>
              <a:t>Docker Compose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62856" y="4791456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C8584"/>
                </a:solidFill>
                <a:latin typeface="Inter"/>
              </a:rPr>
              <a:t>4 conteneurs, déploiement 1 commande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28431" y="4370832"/>
            <a:ext cx="3520440" cy="749808"/>
          </a:xfrm>
          <a:prstGeom prst="roundRect">
            <a:avLst>
              <a:gd name="adj" fmla="val 8000"/>
            </a:avLst>
          </a:prstGeom>
          <a:solidFill>
            <a:srgbClr val="F6F1E8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57031" y="448056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3F40"/>
                </a:solidFill>
                <a:latin typeface="Inter"/>
              </a:rPr>
              <a:t>MongoDB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57031" y="4791456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C8584"/>
                </a:solidFill>
                <a:latin typeface="Inter"/>
              </a:rPr>
              <a:t>245K posts, indexes, validation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5239512"/>
            <a:ext cx="3520440" cy="749808"/>
          </a:xfrm>
          <a:prstGeom prst="roundRect">
            <a:avLst>
              <a:gd name="adj" fmla="val 8000"/>
            </a:avLst>
          </a:prstGeom>
          <a:solidFill>
            <a:srgbClr val="F6F1E8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534924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3F40"/>
                </a:solidFill>
                <a:latin typeface="Inter"/>
              </a:rPr>
              <a:t>FastAPI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" y="5660136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C8584"/>
                </a:solidFill>
                <a:latin typeface="Inter"/>
              </a:rPr>
              <a:t>API REST pour intégration externe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334256" y="5239512"/>
            <a:ext cx="3520440" cy="749808"/>
          </a:xfrm>
          <a:prstGeom prst="roundRect">
            <a:avLst>
              <a:gd name="adj" fmla="val 8000"/>
            </a:avLst>
          </a:prstGeom>
          <a:solidFill>
            <a:srgbClr val="F6F1E8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62856" y="534924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3F40"/>
                </a:solidFill>
                <a:latin typeface="Inter"/>
              </a:rPr>
              <a:t>pytest + mutmut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62856" y="5660136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C8584"/>
                </a:solidFill>
                <a:latin typeface="Inter"/>
              </a:rPr>
              <a:t>501 tests, 80 % cov, 80,3 % kill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028431" y="5239512"/>
            <a:ext cx="3520440" cy="749808"/>
          </a:xfrm>
          <a:prstGeom prst="roundRect">
            <a:avLst>
              <a:gd name="adj" fmla="val 8000"/>
            </a:avLst>
          </a:prstGeom>
          <a:solidFill>
            <a:srgbClr val="F6F1E8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57031" y="534924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3F40"/>
                </a:solidFill>
                <a:latin typeface="Inter"/>
              </a:rPr>
              <a:t>CodeCarbon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57031" y="5660136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C8584"/>
                </a:solidFill>
                <a:latin typeface="Inter"/>
              </a:rPr>
              <a:t>empreinte carbone par version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" y="6400800"/>
            <a:ext cx="10908792" cy="10058"/>
          </a:xfrm>
          <a:prstGeom prst="rect">
            <a:avLst/>
          </a:prstGeom>
          <a:solidFill>
            <a:srgbClr val="E4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584"/>
                </a:solidFill>
                <a:latin typeface="Inter"/>
              </a:rPr>
              <a:t>Niamato Consulting   ·   ThumaCheck   ·   Client : Thumalien   ·   M1 BDIA 2026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58400" y="6455664"/>
            <a:ext cx="1490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7C8584"/>
                </a:solidFill>
                <a:latin typeface="Inter"/>
              </a:rPr>
              <a:t>13 / 17</a:t>
            </a:r>
          </a:p>
        </p:txBody>
      </p:sp>
      <p:pic>
        <p:nvPicPr>
          <p:cNvPr id="69" name="Picture 68" descr="logo_h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1874519" cy="82830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F8265"/>
                </a:solidFill>
                <a:latin typeface="Inter"/>
              </a:rPr>
              <a:t>LA VALEUR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8778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0E3F40"/>
                </a:solidFill>
                <a:latin typeface="Inter"/>
              </a:rPr>
              <a:t>ROI &amp; budget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868680" cy="45720"/>
          </a:xfrm>
          <a:prstGeom prst="rect">
            <a:avLst/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F8265"/>
                </a:solidFill>
                <a:latin typeface="Inter"/>
              </a:rPr>
              <a:t>RETOUR SUR INVESTISSEMENT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5146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59152"/>
            <a:ext cx="2514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0E3F40"/>
                </a:solidFill>
                <a:latin typeface="Inter"/>
              </a:rPr>
              <a:t>×10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35808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C8584"/>
                </a:solidFill>
                <a:latin typeface="Inter"/>
              </a:rPr>
              <a:t>5 min → 30 s par post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194560"/>
            <a:ext cx="25146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2359152"/>
            <a:ext cx="2514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0E3F40"/>
                </a:solidFill>
                <a:latin typeface="Inter"/>
              </a:rPr>
              <a:t>×200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035808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C8584"/>
                </a:solidFill>
                <a:latin typeface="Inter"/>
              </a:rPr>
              <a:t>60K posts/jour automatisés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3320"/>
            <a:ext cx="25146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867911"/>
            <a:ext cx="2514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0E3F40"/>
                </a:solidFill>
                <a:latin typeface="Inter"/>
              </a:rPr>
              <a:t>−67 %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44568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C8584"/>
                </a:solidFill>
                <a:latin typeface="Inter"/>
              </a:rPr>
              <a:t>faux positifs éliminés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3703320"/>
            <a:ext cx="25146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3867911"/>
            <a:ext cx="2514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0E3F40"/>
                </a:solidFill>
                <a:latin typeface="Inter"/>
              </a:rPr>
              <a:t>≈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544568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C8584"/>
                </a:solidFill>
                <a:latin typeface="Inter"/>
              </a:rPr>
              <a:t>0,0005 ct / post analysé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83080"/>
            <a:ext cx="5376672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3F40"/>
                </a:solidFill>
                <a:latin typeface="Inter"/>
              </a:rPr>
              <a:t>BUDGET PROJET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46888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02E2F"/>
                </a:solidFill>
                <a:latin typeface="Inter"/>
              </a:rPr>
              <a:t>Lead Technique (65 j)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246888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202E2F"/>
                </a:solidFill>
                <a:latin typeface="Inter"/>
              </a:rPr>
              <a:t>29 250 €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92608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02E2F"/>
                </a:solidFill>
                <a:latin typeface="Inter"/>
              </a:rPr>
              <a:t>Validation ML (45 j)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92608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202E2F"/>
                </a:solidFill>
                <a:latin typeface="Inter"/>
              </a:rPr>
              <a:t>20 250 €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38328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02E2F"/>
                </a:solidFill>
                <a:latin typeface="Inter"/>
              </a:rPr>
              <a:t>Infrastructure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338328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247549"/>
                </a:solidFill>
                <a:latin typeface="Inter"/>
              </a:rPr>
              <a:t>0 €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84048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02E2F"/>
                </a:solidFill>
                <a:latin typeface="Inter"/>
              </a:rPr>
              <a:t>Licences / outils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384048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247549"/>
                </a:solidFill>
                <a:latin typeface="Inter"/>
              </a:rPr>
              <a:t>0 €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29768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02E2F"/>
                </a:solidFill>
                <a:latin typeface="Inter"/>
              </a:rPr>
              <a:t>Annotation gold 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429768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202E2F"/>
                </a:solidFill>
                <a:latin typeface="Inter"/>
              </a:rPr>
              <a:t>750 €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4828032"/>
            <a:ext cx="4736592" cy="14630"/>
          </a:xfrm>
          <a:prstGeom prst="rect">
            <a:avLst/>
          </a:prstGeom>
          <a:solidFill>
            <a:srgbClr val="E4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956048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3F40"/>
                </a:solidFill>
                <a:latin typeface="Inter"/>
              </a:rPr>
              <a:t>TOTAL PROJET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495604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 i="0">
                <a:solidFill>
                  <a:srgbClr val="D96A4D"/>
                </a:solidFill>
                <a:latin typeface="Inter"/>
              </a:rPr>
              <a:t>50 250 €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376672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7C8584"/>
                </a:solidFill>
                <a:latin typeface="Inter"/>
              </a:rPr>
              <a:t>Exploitation : ~930 €/mois   ·   100 % open source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989320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7C8584"/>
                </a:solidFill>
                <a:latin typeface="Inter"/>
              </a:rPr>
              <a:t>TJM consultant junior : 450 €   |   Stack : Python, PyTorch, Streamlit, Docker (OSS)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6400800"/>
            <a:ext cx="10908792" cy="10058"/>
          </a:xfrm>
          <a:prstGeom prst="rect">
            <a:avLst/>
          </a:prstGeom>
          <a:solidFill>
            <a:srgbClr val="E4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584"/>
                </a:solidFill>
                <a:latin typeface="Inter"/>
              </a:rPr>
              <a:t>Niamato Consulting   ·   ThumaCheck   ·   Client : Thumalien   ·   M1 BDIA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6455664"/>
            <a:ext cx="1490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7C8584"/>
                </a:solidFill>
                <a:latin typeface="Inter"/>
              </a:rPr>
              <a:t>14 / 17</a:t>
            </a:r>
          </a:p>
        </p:txBody>
      </p:sp>
      <p:pic>
        <p:nvPicPr>
          <p:cNvPr id="38" name="Picture 37" descr="logo_h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1874519" cy="82830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F8265"/>
                </a:solidFill>
                <a:latin typeface="Inter"/>
              </a:rPr>
              <a:t>ET APRÈS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8778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0E3F40"/>
                </a:solidFill>
                <a:latin typeface="Inter"/>
              </a:rPr>
              <a:t>Roadmap — vers V12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868680" cy="45720"/>
          </a:xfrm>
          <a:prstGeom prst="rect">
            <a:avLst/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276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7C8584"/>
                </a:solidFill>
                <a:latin typeface="Inter"/>
              </a:rPr>
              <a:t>Limites assumées et perspectives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52044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3520440" cy="685800"/>
          </a:xfrm>
          <a:prstGeom prst="roundRect">
            <a:avLst>
              <a:gd name="adj" fmla="val 5000"/>
            </a:avLst>
          </a:prstGeom>
          <a:solidFill>
            <a:srgbClr val="0E3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331720"/>
            <a:ext cx="3520440" cy="365760"/>
          </a:xfrm>
          <a:prstGeom prst="rect">
            <a:avLst/>
          </a:prstGeom>
          <a:solidFill>
            <a:srgbClr val="0E3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84831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Inter"/>
              </a:rPr>
              <a:t>V10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7C8584"/>
                </a:solidFill>
                <a:latin typeface="Inter"/>
              </a:rPr>
              <a:t>Q3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46120"/>
            <a:ext cx="2880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02E2F"/>
                </a:solidFill>
                <a:latin typeface="Inter"/>
              </a:rPr>
              <a:t>•  MLflow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49039"/>
            <a:ext cx="2880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02E2F"/>
                </a:solidFill>
                <a:latin typeface="Inter"/>
              </a:rPr>
              <a:t>•  Drift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51960"/>
            <a:ext cx="2880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02E2F"/>
                </a:solidFill>
                <a:latin typeface="Inter"/>
              </a:rPr>
              <a:t>•  Streamlit AppTest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4892040"/>
            <a:ext cx="2788920" cy="12801"/>
          </a:xfrm>
          <a:prstGeom prst="rect">
            <a:avLst/>
          </a:prstGeom>
          <a:solidFill>
            <a:srgbClr val="E4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3520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E3F40"/>
                </a:solidFill>
                <a:latin typeface="Inter"/>
              </a:rPr>
              <a:t>Industrialisation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4256" y="2011680"/>
            <a:ext cx="352044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34256" y="2011680"/>
            <a:ext cx="3520440" cy="685800"/>
          </a:xfrm>
          <a:prstGeom prst="roundRect">
            <a:avLst>
              <a:gd name="adj" fmla="val 5000"/>
            </a:avLst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34256" y="2331720"/>
            <a:ext cx="3520440" cy="365760"/>
          </a:xfrm>
          <a:prstGeom prst="rect">
            <a:avLst/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34256" y="2084831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Inter"/>
              </a:rPr>
              <a:t>V11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6" y="2788920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7C8584"/>
                </a:solidFill>
                <a:latin typeface="Inter"/>
              </a:rPr>
              <a:t>Q4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3246120"/>
            <a:ext cx="2880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02E2F"/>
                </a:solidFill>
                <a:latin typeface="Inter"/>
              </a:rPr>
              <a:t>•  ClaimBuster intégration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0016" y="3749039"/>
            <a:ext cx="2880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02E2F"/>
                </a:solidFill>
                <a:latin typeface="Inter"/>
              </a:rPr>
              <a:t>•  Monitoring Grafana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0016" y="4251960"/>
            <a:ext cx="2880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02E2F"/>
                </a:solidFill>
                <a:latin typeface="Inter"/>
              </a:rPr>
              <a:t>•  Tests E2E nightly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0016" y="4892040"/>
            <a:ext cx="2788920" cy="12801"/>
          </a:xfrm>
          <a:prstGeom prst="rect">
            <a:avLst/>
          </a:prstGeom>
          <a:solidFill>
            <a:srgbClr val="E4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34256" y="5029200"/>
            <a:ext cx="3520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EF8265"/>
                </a:solidFill>
                <a:latin typeface="Inter"/>
              </a:rPr>
              <a:t>Vérif. factuelle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8431" y="2011680"/>
            <a:ext cx="352044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28431" y="2011680"/>
            <a:ext cx="3520440" cy="685800"/>
          </a:xfrm>
          <a:prstGeom prst="roundRect">
            <a:avLst>
              <a:gd name="adj" fmla="val 5000"/>
            </a:avLst>
          </a:prstGeom>
          <a:solidFill>
            <a:srgbClr val="247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331720"/>
            <a:ext cx="3520440" cy="365760"/>
          </a:xfrm>
          <a:prstGeom prst="rect">
            <a:avLst/>
          </a:prstGeom>
          <a:solidFill>
            <a:srgbClr val="247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28431" y="2084831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Inter"/>
              </a:rPr>
              <a:t>V12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8431" y="2788920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7C8584"/>
                </a:solidFill>
                <a:latin typeface="Inter"/>
              </a:rPr>
              <a:t>2027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246120"/>
            <a:ext cx="2880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02E2F"/>
                </a:solidFill>
                <a:latin typeface="Inter"/>
              </a:rPr>
              <a:t>•  Modèle FR spécialisé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3749039"/>
            <a:ext cx="2880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02E2F"/>
                </a:solidFill>
                <a:latin typeface="Inter"/>
              </a:rPr>
              <a:t>•  Annotation communautaire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251960"/>
            <a:ext cx="2880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02E2F"/>
                </a:solidFill>
                <a:latin typeface="Inter"/>
              </a:rPr>
              <a:t>•  Federated learning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94192" y="4892040"/>
            <a:ext cx="2788920" cy="12801"/>
          </a:xfrm>
          <a:prstGeom prst="rect">
            <a:avLst/>
          </a:prstGeom>
          <a:solidFill>
            <a:srgbClr val="E4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28431" y="5029200"/>
            <a:ext cx="3520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247549"/>
                </a:solidFill>
                <a:latin typeface="Inter"/>
              </a:rPr>
              <a:t>Inclusion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6400800"/>
            <a:ext cx="10908792" cy="10058"/>
          </a:xfrm>
          <a:prstGeom prst="rect">
            <a:avLst/>
          </a:prstGeom>
          <a:solidFill>
            <a:srgbClr val="E4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584"/>
                </a:solidFill>
                <a:latin typeface="Inter"/>
              </a:rPr>
              <a:t>Niamato Consulting   ·   ThumaCheck   ·   Client : Thumalien   ·   M1 BDIA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6455664"/>
            <a:ext cx="1490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7C8584"/>
                </a:solidFill>
                <a:latin typeface="Inter"/>
              </a:rPr>
              <a:t>15 / 17</a:t>
            </a:r>
          </a:p>
        </p:txBody>
      </p:sp>
      <p:pic>
        <p:nvPicPr>
          <p:cNvPr id="39" name="Picture 38" descr="logo_h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1874519" cy="82830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F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27448" y="2331720"/>
            <a:ext cx="2743200" cy="36576"/>
          </a:xfrm>
          <a:prstGeom prst="rect">
            <a:avLst/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45752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1">
                <a:solidFill>
                  <a:srgbClr val="FFFFFF"/>
                </a:solidFill>
                <a:latin typeface="Inter"/>
              </a:rPr>
              <a:t>« Un score sans explication</a:t>
            </a:r>
          </a:p>
          <a:p>
            <a:pPr algn="ctr">
              <a:lnSpc>
                <a:spcPct val="115000"/>
              </a:lnSpc>
            </a:pPr>
            <a:r>
              <a:rPr sz="4000" b="1" i="1">
                <a:solidFill>
                  <a:srgbClr val="FFFFFF"/>
                </a:solidFill>
                <a:latin typeface="Inter"/>
              </a:rPr>
              <a:t>est un verdict sans procès.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120640"/>
            <a:ext cx="9445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B0C1C0"/>
                </a:solidFill>
                <a:latin typeface="Inter"/>
              </a:rPr>
              <a:t>Niamato Consulting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F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F8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h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822960"/>
            <a:ext cx="3200400" cy="14141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94560"/>
            <a:ext cx="103601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Inter"/>
              </a:rPr>
              <a:t>MERCI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5468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0">
                <a:solidFill>
                  <a:srgbClr val="D9CFBE"/>
                </a:solidFill>
                <a:latin typeface="Inter"/>
              </a:rPr>
              <a:t>Azélie Bernard   ·   Sébastien Lazcanotegui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103601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B0C1C0"/>
                </a:solidFill>
                <a:latin typeface="Inter"/>
              </a:rPr>
              <a:t>Master 1 Big Data &amp; Intelligence Artificielle —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40" y="4160520"/>
            <a:ext cx="12801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6040" y="4160520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E3F40"/>
                </a:solidFill>
                <a:latin typeface="Inter"/>
              </a:rPr>
              <a:t>QR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54864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D9CFBE"/>
                </a:solidFill>
                <a:latin typeface="Inter"/>
              </a:rPr>
              <a:t>Repository GitHub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4160520"/>
            <a:ext cx="12801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4160520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E3F40"/>
                </a:solidFill>
                <a:latin typeface="Inter"/>
              </a:rPr>
              <a:t>QR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54864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D9CFBE"/>
                </a:solidFill>
                <a:latin typeface="Inter"/>
              </a:rPr>
              <a:t>Rapport complet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4160520"/>
            <a:ext cx="12801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4160520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E3F40"/>
                </a:solidFill>
                <a:latin typeface="Inter"/>
              </a:rPr>
              <a:t>QR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54864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D9CFBE"/>
                </a:solidFill>
                <a:latin typeface="Inter"/>
              </a:rPr>
              <a:t>Model Card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893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B0C1C0"/>
                </a:solidFill>
                <a:latin typeface="Inter"/>
              </a:rPr>
              <a:t>Questions ? Disponible dans le chat de soutenance.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