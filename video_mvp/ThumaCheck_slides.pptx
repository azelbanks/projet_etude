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TITRE (00:00 → 00:30)</a:t>
            </a:r>
          </a:p>
          <a:p>
            <a:r>
              <a:t>Speaker : AZÉLIE (hook)</a:t>
            </a:r>
          </a:p>
          <a:p>
            <a:r>
              <a:t>Timing : 30 secondes</a:t>
            </a:r>
          </a:p>
          <a:p/>
          <a:p>
            <a:r>
              <a:t>Texte voix-off (Azélie) :</a:t>
            </a:r>
          </a:p>
          <a:p>
            <a:r>
              <a:t>« En décembre 2025, on collecte 100 000 posts Bluesky.</a:t>
            </a:r>
          </a:p>
          <a:p>
            <a:r>
              <a:t>On entraîne un modèle. On obtient un F1 de 0,99.</a:t>
            </a:r>
          </a:p>
          <a:p>
            <a:r>
              <a:t>Et c'est précisément à ce moment-là qu'on aurait dû s'inquiéter.</a:t>
            </a:r>
          </a:p>
          <a:p/>
          <a:p>
            <a:r>
              <a:t>Bonjour, je suis Azélie Bernard, lead technique chez Niamato Consulting.</a:t>
            </a:r>
          </a:p>
          <a:p>
            <a:r>
              <a:t>Thumalien nous a mandatés pour développer ThumaCheck.</a:t>
            </a:r>
          </a:p>
          <a:p>
            <a:r>
              <a:t>Avec Sébastien, en 18 minutes on va vous montrer pourquoi ce 0,99 était un piège. »</a:t>
            </a:r>
          </a:p>
          <a:p/>
          <a:p>
            <a:r>
              <a:t>Points clés :</a:t>
            </a:r>
          </a:p>
          <a:p>
            <a:r>
              <a:t>- Ouverture contre-intuitive = capte l'attention</a:t>
            </a:r>
          </a:p>
          <a:p>
            <a:r>
              <a:t>- Regarder la caméra, ton grave puis sourire</a:t>
            </a:r>
          </a:p>
          <a:p>
            <a:r>
              <a:t>- BANDEAU OBS : Azélie Bernard — Lead Technique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ÉQUIPE ET RÔLES (00:30)</a:t>
            </a:r>
          </a:p>
          <a:p>
            <a:r>
              <a:t>Timing : 30 secondes (Sébastien se présente)</a:t>
            </a:r>
          </a:p>
          <a:p/>
          <a:p>
            <a:r>
              <a:t>Texte voix-off (Sébastien) :</a:t>
            </a:r>
          </a:p>
          <a:p>
            <a:r>
              <a:t>« Bonjour, je suis Sébastien Lazcanotegui.</a:t>
            </a:r>
          </a:p>
          <a:p>
            <a:r>
              <a:t>Mon rôle : la validation et la qualité du machine learning.</a:t>
            </a:r>
          </a:p>
          <a:p>
            <a:r>
              <a:t>J'ai annoté les 473 posts du gold set avec Azélie,</a:t>
            </a:r>
          </a:p>
          <a:p>
            <a:r>
              <a:t>piloté le débiaisage du biais Reuters,</a:t>
            </a:r>
          </a:p>
          <a:p>
            <a:r>
              <a:t>et optimisé les hyperparamètres par GridSearch.</a:t>
            </a:r>
          </a:p>
          <a:p>
            <a:r>
              <a:t>Ma collègue Azélie Bernard est la lead technique —</a:t>
            </a:r>
          </a:p>
          <a:p>
            <a:r>
              <a:t>elle a conçu et itéré l'ensemble du pipeline,</a:t>
            </a:r>
          </a:p>
          <a:p>
            <a:r>
              <a:t>du collecteur Bluesky au dashboard en passant par l'XAI. »</a:t>
            </a:r>
          </a:p>
          <a:p/>
          <a:p>
            <a:r>
              <a:t>IMPORTANT : insérer les photos avant export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PROBLÉMATIQUE CHIFFRÉE (00:30 → 01:00)</a:t>
            </a:r>
          </a:p>
          <a:p>
            <a:r>
              <a:t>Timing : 30 secondes</a:t>
            </a:r>
          </a:p>
          <a:p>
            <a:r>
              <a:t>Animation : 4 cellules en cascade haut-gauche → bas-droite, intervalle 0.3s</a:t>
            </a:r>
          </a:p>
          <a:p/>
          <a:p>
            <a:r>
              <a:t>Texte voix-off :</a:t>
            </a:r>
          </a:p>
          <a:p>
            <a:r>
              <a:t>« Bluesky compte 35 millions d'utilisateurs. Plus de 60 000 posts publics</a:t>
            </a:r>
          </a:p>
          <a:p>
            <a:r>
              <a:t>en français et anglais chaque jour. Et pourtant : zéro équipe de modération</a:t>
            </a:r>
          </a:p>
          <a:p>
            <a:r>
              <a:t>centralisée, et un angle mort complet côté régulation européenne.</a:t>
            </a:r>
          </a:p>
          <a:p>
            <a:r>
              <a:t>C'est cet espace non couvert que ThumaCheck vient adresser. »</a:t>
            </a:r>
          </a:p>
          <a:p/>
          <a:p>
            <a:r>
              <a:t>Point d'insistance : marquer une pause sur "zéro équipe" et "angle mort".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CAHIER DES CHARGES (01:00 → 02:00)</a:t>
            </a:r>
          </a:p>
          <a:p>
            <a:r>
              <a:t>Timing : 60 secondes</a:t>
            </a:r>
          </a:p>
          <a:p>
            <a:r>
              <a:t>Animation : cartes apparaissent une par une, 1 seconde d'intervalle</a:t>
            </a:r>
          </a:p>
          <a:p/>
          <a:p>
            <a:r>
              <a:t>Texte voix-off :</a:t>
            </a:r>
          </a:p>
          <a:p>
            <a:r>
              <a:t>« Notre cahier des charges impose quatre exigences non-négociables.</a:t>
            </a:r>
          </a:p>
          <a:p>
            <a:r>
              <a:t>Premièrement, la transparence : chaque prédiction doit être explicable.</a:t>
            </a:r>
          </a:p>
          <a:p>
            <a:r>
              <a:t>Deuxièmement, le bilinguisme : français et anglais à performance identique.</a:t>
            </a:r>
          </a:p>
          <a:p>
            <a:r>
              <a:t>Troisièmement, la frugalité : moins de 5 millisecondes par texte</a:t>
            </a:r>
          </a:p>
          <a:p>
            <a:r>
              <a:t>avec une empreinte carbone mesurée.</a:t>
            </a:r>
          </a:p>
          <a:p>
            <a:r>
              <a:t>Enfin, la conformité réglementaire : RGPD article 22 et AI Act articles 13-14. »</a:t>
            </a:r>
          </a:p>
          <a:p/>
          <a:p>
            <a:r>
              <a:t>Point clé : ces 4 exigences structurent TOUTE la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F1=0.99 LE PIÈGE (02:00 → 03:00)</a:t>
            </a:r>
          </a:p>
          <a:p>
            <a:r>
              <a:t>Timing : 60 secondes</a:t>
            </a:r>
          </a:p>
          <a:p>
            <a:r>
              <a:t>Animation CRUCIALE : le panneau gauche apparaît immédiatement.</a:t>
            </a:r>
          </a:p>
          <a:p>
            <a:r>
              <a:t>Le panneau droit arrive 3 secondes après — c'est la RÉVÉLATION.</a:t>
            </a:r>
          </a:p>
          <a:p/>
          <a:p>
            <a:r>
              <a:t>Texte voix-off :</a:t>
            </a:r>
          </a:p>
          <a:p>
            <a:r>
              <a:t>« Nos premières métriques étaient extraordinaires : F1 de 0.987, précision 0.99.</a:t>
            </a:r>
          </a:p>
          <a:p>
            <a:r>
              <a:t>Tous les voyants étaient au vert. [PAUSE 2s]</a:t>
            </a:r>
          </a:p>
          <a:p>
            <a:r>
              <a:t>Mais quand on a ouvert la boîte noire avec l'explicabilité…</a:t>
            </a:r>
          </a:p>
          <a:p>
            <a:r>
              <a:t>les coefficients les plus importants étaient : "reuters", "afp", "associated press".</a:t>
            </a:r>
          </a:p>
          <a:p>
            <a:r>
              <a:t>Le modèle n'apprenait pas à détecter la désinformation.</a:t>
            </a:r>
          </a:p>
          <a:p>
            <a:r>
              <a:t>Il apprenait à reconnaître le style des agences de presse.</a:t>
            </a:r>
          </a:p>
          <a:p>
            <a:r>
              <a:t>Sans XAI, on aurait livré un modèle inutile en production. »</a:t>
            </a:r>
          </a:p>
          <a:p/>
          <a:p>
            <a:r>
              <a:t>C'est LE moment clé de la présentation — le ton doit devenir grave.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ARCHITECTURE C4 (03:00 → 05:00)</a:t>
            </a:r>
          </a:p>
          <a:p>
            <a:r>
              <a:t>Timing : 2 minutes</a:t>
            </a:r>
          </a:p>
          <a:p>
            <a:r>
              <a:t>Animation : boîtes apparaissant de gauche à droite, haut en bas</a:t>
            </a:r>
          </a:p>
          <a:p/>
          <a:p>
            <a:r>
              <a:t>Texte voix-off :</a:t>
            </a:r>
          </a:p>
          <a:p>
            <a:r>
              <a:t>« Voici notre architecture en 8 conteneurs, selon le modèle C4 niveau 2.</a:t>
            </a:r>
          </a:p>
          <a:p>
            <a:r>
              <a:t>Le flux commence par l'API Bluesky AT Proto, collecte les posts via un</a:t>
            </a:r>
          </a:p>
          <a:p>
            <a:r>
              <a:t>collecteur Python, et les stocke dans MongoDB.</a:t>
            </a:r>
          </a:p>
          <a:p>
            <a:r>
              <a:t>Le pipeline cascade en deux étapes filtre d'abord les opinions</a:t>
            </a:r>
          </a:p>
          <a:p>
            <a:r>
              <a:t>puis analyse les faits avec nos trois modèles : V5 TF-IDF, V6 style,</a:t>
            </a:r>
          </a:p>
          <a:p>
            <a:r>
              <a:t>et CamemBERT.</a:t>
            </a:r>
          </a:p>
          <a:p>
            <a:r>
              <a:t>Le dashboard Streamlit expose les résultats avec l'explicabilité</a:t>
            </a:r>
          </a:p>
          <a:p>
            <a:r>
              <a:t>SHAP et Captum. CodeCarbon mesure l'empreinte carbone. »</a:t>
            </a:r>
          </a:p>
          <a:p/>
          <a:p>
            <a:r>
              <a:t>Pourquoi C4 : standard industriel → montre maturité architecturale.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— PIPELINE CASCADE INFÉRENCE (05:00 → 06:00)</a:t>
            </a:r>
          </a:p>
          <a:p>
            <a:r>
              <a:t>Timing : 60 secondes</a:t>
            </a:r>
          </a:p>
          <a:p>
            <a:r>
              <a:t>Animation : flèches défilant une par une, 0.3s d'intervalle</a:t>
            </a:r>
          </a:p>
          <a:p/>
          <a:p>
            <a:r>
              <a:t>Texte voix-off :</a:t>
            </a:r>
          </a:p>
          <a:p>
            <a:r>
              <a:t>« Le pipeline fonctionne en cascade. D'abord, le Stage 1 détecte les opinions</a:t>
            </a:r>
          </a:p>
          <a:p>
            <a:r>
              <a:t>— conformément à l'AI Act, une opinion n'est pas de la désinformation.</a:t>
            </a:r>
          </a:p>
          <a:p>
            <a:r>
              <a:t>Si le texte est factuel, il passe par V5 pour le scoring TF-IDF,</a:t>
            </a:r>
          </a:p>
          <a:p>
            <a:r>
              <a:t>puis V6 pour l'analyse stylistique, puis CamemBERT pour l'embedding sémantique.</a:t>
            </a:r>
          </a:p>
          <a:p>
            <a:r>
              <a:t>Le méta-modèle V8 combine les trois scores, et le module XAI fournit</a:t>
            </a:r>
          </a:p>
          <a:p>
            <a:r>
              <a:t>l'explication complète.</a:t>
            </a:r>
          </a:p>
          <a:p>
            <a:r>
              <a:t>Le tout en 1.5 milliseconde par texte.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— FAITHFULNESS MÉTHODE (06:00 → 10:30)</a:t>
            </a:r>
          </a:p>
          <a:p>
            <a:r>
              <a:t>Timing : cette slide sert de support pendant la démo live ou l'explication longue</a:t>
            </a:r>
          </a:p>
          <a:p/>
          <a:p>
            <a:r>
              <a:t>Texte voix-off :</a:t>
            </a:r>
          </a:p>
          <a:p>
            <a:r>
              <a:t>« Avoir SHAP ne suffit pas. Il faut prouver que les explications sont fidèles.</a:t>
            </a:r>
          </a:p>
          <a:p>
            <a:r>
              <a:t>Notre question : si on supprime les features que SHAP identifie comme</a:t>
            </a:r>
          </a:p>
          <a:p>
            <a:r>
              <a:t>les plus importantes, est-ce que la prédiction change vraiment ?</a:t>
            </a:r>
          </a:p>
          <a:p>
            <a:r>
              <a:t>On utilise le protocole ERASER de DeYoung et al., publié à ACL 2020.</a:t>
            </a:r>
          </a:p>
          <a:p>
            <a:r>
              <a:t>En 4 étapes : identifier, masquer, mesurer, comparer.</a:t>
            </a:r>
          </a:p>
          <a:p>
            <a:r>
              <a:t>Si notre attribution est fidèle, la chute de probabilité doit être</a:t>
            </a:r>
          </a:p>
          <a:p>
            <a:r>
              <a:t>nettement supérieure à un masquage aléatoire. »</a:t>
            </a:r>
          </a:p>
          <a:p/>
          <a:p>
            <a:r>
              <a:t>Référence académique : important pour la crédibilité.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— RÉSULTAT FAITHFULNESS (10:30 → 11:30)</a:t>
            </a:r>
          </a:p>
          <a:p>
            <a:r>
              <a:t>Timing : 60 secondes</a:t>
            </a:r>
          </a:p>
          <a:p/>
          <a:p>
            <a:r>
              <a:t>Texte voix-off :</a:t>
            </a:r>
          </a:p>
          <a:p>
            <a:r>
              <a:t>« Voici le résultat concret. La courbe bleue montre la chute de probabilité</a:t>
            </a:r>
          </a:p>
          <a:p>
            <a:r>
              <a:t>quand on masque les features dans l'ordre d'importance SHAP.</a:t>
            </a:r>
          </a:p>
          <a:p>
            <a:r>
              <a:t>La courbe orange, c'est le masquage aléatoire.</a:t>
            </a:r>
          </a:p>
          <a:p>
            <a:r>
              <a:t>L'AOPC de notre attribution est de 0.253 contre 0.045 pour le random.</a:t>
            </a:r>
          </a:p>
          <a:p>
            <a:r>
              <a:t>C'est un uplift de 21 points, un ratio de 5.6 fois.</a:t>
            </a:r>
          </a:p>
          <a:p>
            <a:r>
              <a:t>Notre cible était un uplift supérieur à 10 points — on l'atteint</a:t>
            </a:r>
          </a:p>
          <a:p>
            <a:r>
              <a:t>avec un facteur 2. Nos explications sont fidèles au modèle.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— QUALITÉ INDUSTRIELLE (11:30 → 12:30)</a:t>
            </a:r>
          </a:p>
          <a:p>
            <a:r>
              <a:t>Timing : 60 secondes</a:t>
            </a:r>
          </a:p>
          <a:p/>
          <a:p>
            <a:r>
              <a:t>Texte voix-off :</a:t>
            </a:r>
          </a:p>
          <a:p>
            <a:r>
              <a:t>« 501 tests unitaires, tous passants. 80 % de couverture de code.</a:t>
            </a:r>
          </a:p>
          <a:p>
            <a:r>
              <a:t>Mais la couverture seule ne prouve rien — c'est pour ça qu'on a lancé</a:t>
            </a:r>
          </a:p>
          <a:p>
            <a:r>
              <a:t>le mutation testing avec mutmut.</a:t>
            </a:r>
          </a:p>
          <a:p>
            <a:r>
              <a:t>80,3 % des mutants sont tués. Pour contexte, le benchmark industriel</a:t>
            </a:r>
          </a:p>
          <a:p>
            <a:r>
              <a:t>chez Google est entre 60 et 75 %. On est au-dessus.</a:t>
            </a:r>
          </a:p>
          <a:p>
            <a:r>
              <a:t>Et on a mis en place un quality gate dans la CI : aucun merge</a:t>
            </a:r>
          </a:p>
          <a:p>
            <a:r>
              <a:t>n'est accepté si la couverture descend sous 75 %. »</a:t>
            </a:r>
          </a:p>
          <a:p/>
          <a:p>
            <a:r>
              <a:t>Point d'argumentation : mutation testing = preuve que les tests</a:t>
            </a:r>
          </a:p>
          <a:p>
            <a:r>
              <a:t>détectent VRAIMENT les bugs, pas juste qu'ils traversent les lignes.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— CONFORMITÉ RÉGLEMENTAIRE (12:30 → 14:00)</a:t>
            </a:r>
          </a:p>
          <a:p>
            <a:r>
              <a:t>Timing : 90 secondes</a:t>
            </a:r>
          </a:p>
          <a:p/>
          <a:p>
            <a:r>
              <a:t>Texte voix-off :</a:t>
            </a:r>
          </a:p>
          <a:p>
            <a:r>
              <a:t>« ThumaCheck est conforme aux deux cadres réglementaires européens.</a:t>
            </a:r>
          </a:p>
          <a:p>
            <a:r>
              <a:t>Pour l'AI Act, applicable en août 2026 : notre Model Card satisfait l'article 13</a:t>
            </a:r>
          </a:p>
          <a:p>
            <a:r>
              <a:t>sur la transparence. La décomposition β·x dans le dashboard répond à l'article 14</a:t>
            </a:r>
          </a:p>
          <a:p>
            <a:r>
              <a:t>sur la supervision humaine. Et notre système est classé risque limité.</a:t>
            </a:r>
          </a:p>
          <a:p>
            <a:r>
              <a:t>Côté RGPD : l'article 22 sur les décisions automatisées est couvert par</a:t>
            </a:r>
          </a:p>
          <a:p>
            <a:r>
              <a:t>nos explications SHAP et Captum — chaque utilisateur peut comprendre</a:t>
            </a:r>
          </a:p>
          <a:p>
            <a:r>
              <a:t>pourquoi un texte est flaggé. L'AIPD est documentée, et notre base légale</a:t>
            </a:r>
          </a:p>
          <a:p>
            <a:r>
              <a:t>est l'intérêt légitime sur des posts publics.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— GREEN IT (14:00 → 14:30)</a:t>
            </a:r>
          </a:p>
          <a:p>
            <a:r>
              <a:t>Timing : 30 secondes</a:t>
            </a:r>
          </a:p>
          <a:p/>
          <a:p>
            <a:r>
              <a:t>Texte voix-off :</a:t>
            </a:r>
          </a:p>
          <a:p>
            <a:r>
              <a:t>« Notre empreinte carbone totale est d'environ 6,9 grammes de CO2.</a:t>
            </a:r>
          </a:p>
          <a:p>
            <a:r>
              <a:t>6,14 grammes mesurés par CodeCarbon sur 6 entraînements,</a:t>
            </a:r>
          </a:p>
          <a:p>
            <a:r>
              <a:t>plus environ 0,7 gramme estimé pour V6, le pipeline XAI et l'inférence.</a:t>
            </a:r>
          </a:p>
          <a:p>
            <a:r>
              <a:t>Les deux fine-tunings RoBERTa représentent la moitié du bilan.</a:t>
            </a:r>
          </a:p>
          <a:p>
            <a:r>
              <a:t>Les trois runs LogReg un tiers, et le reste se répartit entre</a:t>
            </a:r>
          </a:p>
          <a:p>
            <a:r>
              <a:t>CamemBERT, V6 GradientBoosting, l'explicabilité et l'inférence.</a:t>
            </a:r>
          </a:p>
          <a:p>
            <a:r>
              <a:t>En production, on utilise V5 seul : 1,5 milliseconde, 0,6 gramme par jour.</a:t>
            </a:r>
          </a:p>
          <a:p>
            <a:r>
              <a:t>CamemBERT est réservé à l'analyse offline batch.</a:t>
            </a:r>
          </a:p>
          <a:p>
            <a:r>
              <a:t>C'est un arbitrage documenté dans la Model Card.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— MÉTHODOLOGIE (15:00 → 16:00)</a:t>
            </a:r>
          </a:p>
          <a:p>
            <a:r>
              <a:t>Timing : 60 secondes (Sébastien)</a:t>
            </a:r>
          </a:p>
          <a:p/>
          <a:p>
            <a:r>
              <a:t>Texte voix-off (Sébastien) :</a:t>
            </a:r>
          </a:p>
          <a:p>
            <a:r>
              <a:t>« Un mot sur notre méthodologie.</a:t>
            </a:r>
          </a:p>
          <a:p>
            <a:r>
              <a:t>On a suivi le cycle CRISP-DM adapté au machine learning :</a:t>
            </a:r>
          </a:p>
          <a:p>
            <a:r>
              <a:t>comprendre, explorer, préparer, modéliser, évaluer, déployer.</a:t>
            </a:r>
          </a:p>
          <a:p>
            <a:r>
              <a:t>Et surtout : itérer. 9 versions en 6 mois.</a:t>
            </a:r>
          </a:p>
          <a:p/>
          <a:p>
            <a:r>
              <a:t>La gestion de projet s'est appuyée sur un planning Gantt</a:t>
            </a:r>
          </a:p>
          <a:p>
            <a:r>
              <a:t>avec 16 work packages et 28 jalons.</a:t>
            </a:r>
          </a:p>
          <a:p>
            <a:r>
              <a:t>Nos outils : Git avec CI/CD sur GitHub Actions,</a:t>
            </a:r>
          </a:p>
          <a:p>
            <a:r>
              <a:t>Docker Compose pour le déploiement, MongoDB pour le stockage,</a:t>
            </a:r>
          </a:p>
          <a:p>
            <a:r>
              <a:t>FastAPI pour l'API REST, et CodeCarbon pour le suivi carbone.</a:t>
            </a:r>
          </a:p>
          <a:p>
            <a:r>
              <a:t>Le tout versionné et reproductible.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— ROI &amp; BUDGET (15:45 → 16:30)</a:t>
            </a:r>
          </a:p>
          <a:p>
            <a:r>
              <a:t>Speaker : SÉBASTIEN</a:t>
            </a:r>
          </a:p>
          <a:p>
            <a:r>
              <a:t>Timing : 45 secondes</a:t>
            </a:r>
          </a:p>
          <a:p/>
          <a:p>
            <a:r>
              <a:t>Texte voix-off (Sébastien) :</a:t>
            </a:r>
          </a:p>
          <a:p>
            <a:r>
              <a:t>« Parlons chiffres. Le projet ThumaCheck a coûté environ 50 000 euros,</a:t>
            </a:r>
          </a:p>
          <a:p>
            <a:r>
              <a:t>essentiellement en ressources humaines — 110 jours-homme répartis</a:t>
            </a:r>
          </a:p>
          <a:p>
            <a:r>
              <a:t>entre le développement technique et la validation.</a:t>
            </a:r>
          </a:p>
          <a:p/>
          <a:p>
            <a:r>
              <a:t>Zéro euro de licence : notre stack est 100 % open source.</a:t>
            </a:r>
          </a:p>
          <a:p>
            <a:r>
              <a:t>Zéro euro de cloud : tout tourne en local sur Docker.</a:t>
            </a:r>
          </a:p>
          <a:p>
            <a:r>
              <a:t>Le seul coût additionnel : 750 euros pour l'annotation manuelle</a:t>
            </a:r>
          </a:p>
          <a:p>
            <a:r>
              <a:t>du gold set de validation.</a:t>
            </a:r>
          </a:p>
          <a:p/>
          <a:p>
            <a:r>
              <a:t>En exploitation, le coût mensuel est d'environ 930 euros :</a:t>
            </a:r>
          </a:p>
          <a:p>
            <a:r>
              <a:t>un petit serveur à 30 euros et 2 jours de maintenance.</a:t>
            </a:r>
          </a:p>
          <a:p>
            <a:r>
              <a:t>Pour 1,8 million de posts analysés par mois,</a:t>
            </a:r>
          </a:p>
          <a:p>
            <a:r>
              <a:t>ça revient à 0,0005 centime par post.</a:t>
            </a:r>
          </a:p>
          <a:p/>
          <a:p>
            <a:r>
              <a:t>En retour : un gain de productivité x10 pour les modérateurs,</a:t>
            </a:r>
          </a:p>
          <a:p>
            <a:r>
              <a:t>une couverture de 60 000 posts par jour — 200 fois plus qu'un humain —</a:t>
            </a:r>
          </a:p>
          <a:p>
            <a:r>
              <a:t>et une réduction de 67 % des faux positifs.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— ROADMAP (14:30 → 16:30)</a:t>
            </a:r>
          </a:p>
          <a:p>
            <a:r>
              <a:t>Timing : 2 minutes</a:t>
            </a:r>
          </a:p>
          <a:p/>
          <a:p>
            <a:r>
              <a:t>Texte voix-off :</a:t>
            </a:r>
          </a:p>
          <a:p>
            <a:r>
              <a:t>« Nous sommes lucides sur les limites de V9.</a:t>
            </a:r>
          </a:p>
          <a:p>
            <a:r>
              <a:t>La roadmap est structurée en 3 phases.</a:t>
            </a:r>
          </a:p>
          <a:p>
            <a:r>
              <a:t>V10 au troisième trimestre 2026 : industrialisation avec MLflow pour le tracking</a:t>
            </a:r>
          </a:p>
          <a:p>
            <a:r>
              <a:t>d'expériences et monitoring de drift.</a:t>
            </a:r>
          </a:p>
          <a:p>
            <a:r>
              <a:t>V11 fin 2026 : intégration de ClaimBuster pour la vérification factuelle,</a:t>
            </a:r>
          </a:p>
          <a:p>
            <a:r>
              <a:t>monitoring Grafana, et tests end-to-end automatisés chaque nuit.</a:t>
            </a:r>
          </a:p>
          <a:p>
            <a:r>
              <a:t>V12 en 2027 : un modèle spécialisé français, de l'annotation communautaire,</a:t>
            </a:r>
          </a:p>
          <a:p>
            <a:r>
              <a:t>et du federated learning pour l'inclusion.</a:t>
            </a:r>
          </a:p>
          <a:p>
            <a:r>
              <a:t>Chaque version a un thème clair et des livrables concrets. »</a:t>
            </a:r>
          </a:p>
          <a:p/>
          <a:p>
            <a:r>
              <a:t>Point clé : montrer qu'on sait où on va, sans sur-promettre.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— CITATION (17:30 → 17:45)</a:t>
            </a:r>
          </a:p>
          <a:p>
            <a:r>
              <a:t>Timing : 15 secondes — SILENCE après avoir prononcé la phrase</a:t>
            </a:r>
          </a:p>
          <a:p/>
          <a:p>
            <a:r>
              <a:t>Animation : la citation reste 5 secondes complètes en silence,</a:t>
            </a:r>
          </a:p>
          <a:p>
            <a:r>
              <a:t>puis fondu enchaîné de 1.5s vers la slide remerciements.</a:t>
            </a:r>
          </a:p>
          <a:p/>
          <a:p>
            <a:r>
              <a:t>Texte voix-off (prononcé lentement, regard caméra) :</a:t>
            </a:r>
          </a:p>
          <a:p>
            <a:r>
              <a:t>« Un score sans explication est un verdict sans procès. »</a:t>
            </a:r>
          </a:p>
          <a:p>
            <a:r>
              <a:t>[SILENCE 5 secondes — laisser résonner]</a:t>
            </a:r>
          </a:p>
          <a:p/>
          <a:p>
            <a:r>
              <a:t>Ce silence renforce l'impact. Ne rien ajouter.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— REMERCIEMENTS (17:45 → 18:00)</a:t>
            </a:r>
          </a:p>
          <a:p>
            <a:r>
              <a:t>Timing : 15 secondes</a:t>
            </a:r>
          </a:p>
          <a:p/>
          <a:p>
            <a:r>
              <a:t>Texte voix-off :</a:t>
            </a:r>
          </a:p>
          <a:p>
            <a:r>
              <a:t>« Merci de votre attention. Le repository, le rapport complet</a:t>
            </a:r>
          </a:p>
          <a:p>
            <a:r>
              <a:t>et la Model Card sont accessibles via ces QR codes.</a:t>
            </a:r>
          </a:p>
          <a:p>
            <a:r>
              <a:t>Nous sommes disponibles pour vos questions. »</a:t>
            </a:r>
          </a:p>
          <a:p/>
          <a:p>
            <a:r>
              <a:t>Rappel : insérer les vrais QR codes avant export final :</a:t>
            </a:r>
          </a:p>
          <a:p>
            <a:r>
              <a:t>- QR 1 → URL repo GitHub</a:t>
            </a:r>
          </a:p>
          <a:p>
            <a:r>
              <a:t>- QR 2 → docs/pdf/rapport_projet_thumalien.pdf</a:t>
            </a:r>
          </a:p>
          <a:p>
            <a:r>
              <a:t>- QR 3 → docs/12_model_card.md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1097280"/>
            <a:ext cx="7589520" cy="12700"/>
          </a:xfrm>
          <a:prstGeom prst="rect">
            <a:avLst/>
          </a:prstGeom>
          <a:solidFill>
            <a:srgbClr val="008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7600" b="1" i="0">
                <a:solidFill>
                  <a:srgbClr val="00D4FF"/>
                </a:solidFill>
                <a:latin typeface="Inter"/>
              </a:defRPr>
            </a:pPr>
            <a:r>
              <a:t>THUMACHECK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400" b="0" i="0">
                <a:solidFill>
                  <a:srgbClr val="B0B0B0"/>
                </a:solidFill>
                <a:latin typeface="Inter"/>
              </a:defRPr>
            </a:pPr>
            <a:r>
              <a:t>Détection de désinformation Bluesky — bilingue, explicable, frugale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2400" b="0" i="0">
                <a:solidFill>
                  <a:srgbClr val="B0B0B0"/>
                </a:solidFill>
                <a:latin typeface="Inter"/>
              </a:defRPr>
            </a:pPr>
            <a:r>
              <a:t>Niamato Consulting pour Thumalien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611880"/>
            <a:ext cx="57607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200" b="1" i="0">
                <a:solidFill>
                  <a:srgbClr val="00E676"/>
                </a:solidFill>
                <a:latin typeface="Inter"/>
              </a:defRPr>
            </a:pPr>
            <a:r>
              <a:t>NIAMATO CONSULTING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327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600" b="0" i="0">
                <a:solidFill>
                  <a:srgbClr val="E8E8E8"/>
                </a:solidFill>
                <a:latin typeface="Inter"/>
              </a:defRPr>
            </a:pPr>
            <a:r>
              <a:t>Azélie Bernard  ·  Sébastien Lazcanotegui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0" i="0">
                <a:solidFill>
                  <a:srgbClr val="B0B0B0"/>
                </a:solidFill>
                <a:latin typeface="Inter"/>
              </a:defRPr>
            </a:pPr>
            <a:r>
              <a:t>Master 1 Big Data &amp; Intelligence Artificielle — 2025 /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5760720"/>
            <a:ext cx="7589520" cy="12700"/>
          </a:xfrm>
          <a:prstGeom prst="rect">
            <a:avLst/>
          </a:prstGeom>
          <a:solidFill>
            <a:srgbClr val="008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0" y="53035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606060"/>
                </a:solidFill>
                <a:latin typeface="Inter"/>
              </a:defRPr>
            </a:pPr>
            <a:r>
              <a:t>[QR code → repo GitHub]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ThumaCheck  ·  Client : Thumalien  ·  M1 BDIA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06060"/>
                </a:solidFill>
                <a:latin typeface="Inter"/>
              </a:defRPr>
            </a:pPr>
            <a: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4400" b="1">
                <a:solidFill>
                  <a:srgbClr val="00D4FF"/>
                </a:solidFill>
                <a:latin typeface="Inter"/>
              </a:defRPr>
            </a:pPr>
            <a:r>
              <a:t>NIAMATO CONSULTING — L'ÉQUIPE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38912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16459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0" i="0">
                <a:solidFill>
                  <a:srgbClr val="606060"/>
                </a:solidFill>
                <a:latin typeface="Inter"/>
              </a:defRPr>
            </a:pPr>
            <a:r>
              <a:t>[PHOTO]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1645920"/>
            <a:ext cx="1645920" cy="164592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2700">
            <a:solidFill>
              <a:srgbClr val="008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16459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400" b="1" i="0">
                <a:solidFill>
                  <a:srgbClr val="00D4FF"/>
                </a:solidFill>
                <a:latin typeface="Inter"/>
              </a:defRPr>
            </a:pPr>
            <a:r>
              <a:t>Azélie Bernard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1488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800" b="1" i="0">
                <a:solidFill>
                  <a:srgbClr val="FFD600"/>
                </a:solidFill>
                <a:latin typeface="Inter"/>
              </a:defRPr>
            </a:pPr>
            <a:r>
              <a:t>Lead Technique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566160"/>
            <a:ext cx="438912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E8E8E8"/>
                </a:solidFill>
                <a:latin typeface="Inter"/>
              </a:defRPr>
            </a:pPr>
            <a:r>
              <a:t>•  Pipeline NLP V1 → V9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E8E8E8"/>
                </a:solidFill>
                <a:latin typeface="Inter"/>
              </a:defRPr>
            </a:pPr>
            <a:r>
              <a:t>•  Dashboard Streamlit 5 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59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E8E8E8"/>
                </a:solidFill>
                <a:latin typeface="Inter"/>
              </a:defRPr>
            </a:pPr>
            <a:r>
              <a:t>•  XAI : SHAP, Captum, faithfulness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4632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E8E8E8"/>
                </a:solidFill>
                <a:latin typeface="Inter"/>
              </a:defRPr>
            </a:pPr>
            <a:r>
              <a:t>•  Fine-tuning CamemBERT &amp; RoBERTa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212079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E8E8E8"/>
                </a:solidFill>
                <a:latin typeface="Inter"/>
              </a:defRPr>
            </a:pPr>
            <a:r>
              <a:t>•  CI/CD, tests, mutation testing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371600"/>
            <a:ext cx="5029200" cy="438912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645920"/>
            <a:ext cx="16459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0" i="0">
                <a:solidFill>
                  <a:srgbClr val="606060"/>
                </a:solidFill>
                <a:latin typeface="Inter"/>
              </a:defRPr>
            </a:pPr>
            <a:r>
              <a:t>[PHOTO]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645920"/>
            <a:ext cx="1645920" cy="164592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2700">
            <a:solidFill>
              <a:srgbClr val="008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4592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1" i="0">
                <a:solidFill>
                  <a:srgbClr val="00E676"/>
                </a:solidFill>
                <a:latin typeface="Inter"/>
              </a:defRPr>
            </a:pPr>
            <a:r>
              <a:t>Sébastien Lazcanotegui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14884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D600"/>
                </a:solidFill>
                <a:latin typeface="Inter"/>
              </a:defRPr>
            </a:pPr>
            <a:r>
              <a:t>Validation &amp; Qualité ML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3566160"/>
            <a:ext cx="438912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749039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E8E8E8"/>
                </a:solidFill>
                <a:latin typeface="Inter"/>
              </a:defRPr>
            </a:pPr>
            <a:r>
              <a:t>•  Annotation gold set (473 posts, 2 annotateurs)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11480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E8E8E8"/>
                </a:solidFill>
                <a:latin typeface="Inter"/>
              </a:defRPr>
            </a:pPr>
            <a:r>
              <a:t>•  Débiaisage Reuters (BODY_AGENCY_TERMS)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480559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E8E8E8"/>
                </a:solidFill>
                <a:latin typeface="Inter"/>
              </a:defRPr>
            </a:pPr>
            <a:r>
              <a:t>•  GridSearch hyperparamètres (C, min_df, ngrams)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84632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E8E8E8"/>
                </a:solidFill>
                <a:latin typeface="Inter"/>
              </a:defRPr>
            </a:pPr>
            <a:r>
              <a:t>•  Revue critique &amp; challenge technique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212079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E8E8E8"/>
                </a:solidFill>
                <a:latin typeface="Inter"/>
              </a:defRPr>
            </a:pPr>
            <a:r>
              <a:t>•  Conformité RGPD &amp; AI 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03504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600" b="0" i="1">
                <a:solidFill>
                  <a:srgbClr val="B0B0B0"/>
                </a:solidFill>
                <a:latin typeface="Inter"/>
              </a:defRPr>
            </a:pPr>
            <a:r>
              <a:t>Master 1 Big Data &amp; IA — Sup de Vinci — 2025/2026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ThumaCheck  ·  Client : Thumalien  ·  M1 BDIA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06060"/>
                </a:solidFill>
                <a:latin typeface="Inter"/>
              </a:defRPr>
            </a:pPr>
            <a: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4400" b="1">
                <a:solidFill>
                  <a:srgbClr val="00D4FF"/>
                </a:solidFill>
                <a:latin typeface="Inter"/>
              </a:defRPr>
            </a:pPr>
            <a:r>
              <a:t>LA DÉSINFORMATION SUR BLUESKY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182880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663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6400" b="1" i="0">
                <a:solidFill>
                  <a:srgbClr val="00D4FF"/>
                </a:solidFill>
                <a:latin typeface="Inter"/>
              </a:defRPr>
            </a:pPr>
            <a:r>
              <a:t>35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06040"/>
            <a:ext cx="4663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000" b="0" i="0">
                <a:solidFill>
                  <a:srgbClr val="B0B0B0"/>
                </a:solidFill>
                <a:latin typeface="Inter"/>
              </a:defRPr>
            </a:pPr>
            <a:r>
              <a:t>utilisateurs Bluesky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182880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6400" b="1" i="0">
                <a:solidFill>
                  <a:srgbClr val="00D4FF"/>
                </a:solidFill>
                <a:latin typeface="Inter"/>
              </a:defRPr>
            </a:pPr>
            <a:r>
              <a:t>60 000+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606040"/>
            <a:ext cx="4663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000" b="0" i="0">
                <a:solidFill>
                  <a:srgbClr val="B0B0B0"/>
                </a:solidFill>
                <a:latin typeface="Inter"/>
              </a:defRPr>
            </a:pPr>
            <a:r>
              <a:t>posts publics FR/EN par jour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5212080" cy="182880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40480"/>
            <a:ext cx="4663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6400" b="1" i="0">
                <a:solidFill>
                  <a:srgbClr val="FF1744"/>
                </a:solidFill>
                <a:latin typeface="Inter"/>
              </a:defRPr>
            </a:pPr>
            <a: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800600"/>
            <a:ext cx="4663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000" b="0" i="0">
                <a:solidFill>
                  <a:srgbClr val="B0B0B0"/>
                </a:solidFill>
                <a:latin typeface="Inter"/>
              </a:defRPr>
            </a:pPr>
            <a:r>
              <a:t>équipe modération centralisée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5212080" cy="182880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840480"/>
            <a:ext cx="4663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6400" b="1" i="0">
                <a:solidFill>
                  <a:srgbClr val="FFD600"/>
                </a:solidFill>
                <a:latin typeface="Inter"/>
              </a:defRPr>
            </a:pPr>
            <a:r>
              <a:t>Angle mort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800600"/>
            <a:ext cx="4663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000" b="0" i="0">
                <a:solidFill>
                  <a:srgbClr val="B0B0B0"/>
                </a:solidFill>
                <a:latin typeface="Inter"/>
              </a:defRPr>
            </a:pPr>
            <a:r>
              <a:t>régulation européenne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ThumaCheck  ·  Client : Thumalien  ·  M1 BDIA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06060"/>
                </a:solidFill>
                <a:latin typeface="Inter"/>
              </a:defRPr>
            </a:pPr>
            <a: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4400" b="1">
                <a:solidFill>
                  <a:srgbClr val="00D4FF"/>
                </a:solidFill>
                <a:latin typeface="Inter"/>
              </a:defRPr>
            </a:pPr>
            <a:r>
              <a:t>LE CAHIER DES CHARGES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86868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800" b="0" i="0">
                <a:solidFill>
                  <a:srgbClr val="00D4FF"/>
                </a:solidFill>
                <a:latin typeface="Inter"/>
              </a:defRPr>
            </a:pPr>
            <a:r>
              <a:t>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481328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800" b="1" i="0">
                <a:solidFill>
                  <a:srgbClr val="00D4FF"/>
                </a:solidFill>
                <a:latin typeface="Inter"/>
              </a:defRPr>
            </a:pPr>
            <a:r>
              <a:t>TRANSPARENCE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536192"/>
            <a:ext cx="64922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000" b="0" i="0">
                <a:solidFill>
                  <a:srgbClr val="B0B0B0"/>
                </a:solidFill>
                <a:latin typeface="Inter"/>
              </a:defRPr>
            </a:pPr>
            <a:r>
              <a:t>Chaque score doit être explicable et auditable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10698480" cy="86868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800" b="0" i="0">
                <a:solidFill>
                  <a:srgbClr val="00E676"/>
                </a:solidFill>
                <a:latin typeface="Inter"/>
              </a:defRPr>
            </a:pPr>
            <a: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24328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800" b="1" i="0">
                <a:solidFill>
                  <a:srgbClr val="00E676"/>
                </a:solidFill>
                <a:latin typeface="Inter"/>
              </a:defRPr>
            </a:pPr>
            <a:r>
              <a:t>BILINGUE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679192"/>
            <a:ext cx="64922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000" b="0" i="0">
                <a:solidFill>
                  <a:srgbClr val="B0B0B0"/>
                </a:solidFill>
                <a:latin typeface="Inter"/>
              </a:defRPr>
            </a:pPr>
            <a:r>
              <a:t>Français + anglais, performance équivalente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10698480" cy="86868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79476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800" b="0" i="0">
                <a:solidFill>
                  <a:srgbClr val="FFD600"/>
                </a:solidFill>
                <a:latin typeface="Inter"/>
              </a:defRPr>
            </a:pPr>
            <a:r>
              <a:t>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767328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800" b="1" i="0">
                <a:solidFill>
                  <a:srgbClr val="FFD600"/>
                </a:solidFill>
                <a:latin typeface="Inter"/>
              </a:defRPr>
            </a:pPr>
            <a:r>
              <a:t>FRUGALITÉ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822191"/>
            <a:ext cx="64922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000" b="0" i="0">
                <a:solidFill>
                  <a:srgbClr val="B0B0B0"/>
                </a:solidFill>
                <a:latin typeface="Inter"/>
              </a:defRPr>
            </a:pPr>
            <a:r>
              <a:t>&lt; 5 ms par texte, empreinte CO₂ mesurée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00600"/>
            <a:ext cx="10698480" cy="86868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93776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800" b="0" i="0">
                <a:solidFill>
                  <a:srgbClr val="FF1744"/>
                </a:solidFill>
                <a:latin typeface="Inter"/>
              </a:defRPr>
            </a:pPr>
            <a:r>
              <a:t>⚖️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910328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800" b="1" i="0">
                <a:solidFill>
                  <a:srgbClr val="FF1744"/>
                </a:solidFill>
                <a:latin typeface="Inter"/>
              </a:defRPr>
            </a:pPr>
            <a:r>
              <a:t>CONFORMITÉ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965192"/>
            <a:ext cx="64922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000" b="0" i="0">
                <a:solidFill>
                  <a:srgbClr val="B0B0B0"/>
                </a:solidFill>
                <a:latin typeface="Inter"/>
              </a:defRPr>
            </a:pPr>
            <a:r>
              <a:t>RGPD art. 22 + AI Act art. 13/14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035040"/>
            <a:ext cx="10698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600" b="0" i="1">
                <a:solidFill>
                  <a:srgbClr val="00D4FF"/>
                </a:solidFill>
                <a:latin typeface="Inter"/>
              </a:defRPr>
            </a:pPr>
            <a:r>
              <a:t>Quatre exigences non-négociables pour passer du prototype au système déployable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ThumaCheck  ·  Client : Thumalien  ·  M1 BDIA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06060"/>
                </a:solidFill>
                <a:latin typeface="Inter"/>
              </a:defRPr>
            </a:pPr>
            <a: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4800" b="1">
                <a:solidFill>
                  <a:srgbClr val="FF1744"/>
                </a:solidFill>
                <a:latin typeface="Inter"/>
              </a:defRPr>
            </a:pPr>
            <a:r>
              <a:t>F1 = 0.99 — LE PIÈGE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212080" cy="438912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1" i="0">
                <a:solidFill>
                  <a:srgbClr val="00E676"/>
                </a:solidFill>
                <a:latin typeface="Inter"/>
              </a:defRPr>
            </a:pPr>
            <a:r>
              <a:t>CROSS-VALIDATION 5-FOLD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965960"/>
            <a:ext cx="411480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B0B0B0"/>
                </a:solidFill>
                <a:latin typeface="Inter"/>
              </a:defRPr>
            </a:pPr>
            <a:r>
              <a:t>F1 macro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19456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2400" b="1" i="0">
                <a:solidFill>
                  <a:srgbClr val="00E676"/>
                </a:solidFill>
                <a:latin typeface="Inter"/>
              </a:defRPr>
            </a:pPr>
            <a:r>
              <a:t>0.987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B0B0B0"/>
                </a:solidFill>
                <a:latin typeface="Inter"/>
              </a:defRPr>
            </a:pPr>
            <a:r>
              <a:t>Précision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7432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2400" b="1" i="0">
                <a:solidFill>
                  <a:srgbClr val="00E676"/>
                </a:solidFill>
                <a:latin typeface="Inter"/>
              </a:defRPr>
            </a:pPr>
            <a:r>
              <a:t>0.992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39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B0B0B0"/>
                </a:solidFill>
                <a:latin typeface="Inter"/>
              </a:defRPr>
            </a:pPr>
            <a:r>
              <a:t>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291839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2400" b="1" i="0">
                <a:solidFill>
                  <a:srgbClr val="00E676"/>
                </a:solidFill>
                <a:latin typeface="Inter"/>
              </a:defRPr>
            </a:pPr>
            <a:r>
              <a:t>0.984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79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B0B0B0"/>
                </a:solidFill>
                <a:latin typeface="Inter"/>
              </a:defRPr>
            </a:pPr>
            <a: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840479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2400" b="1" i="0">
                <a:solidFill>
                  <a:srgbClr val="00E676"/>
                </a:solidFill>
                <a:latin typeface="Inter"/>
              </a:defRPr>
            </a:pPr>
            <a:r>
              <a:t>0.989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1" i="0">
                <a:solidFill>
                  <a:srgbClr val="00E676"/>
                </a:solidFill>
                <a:latin typeface="Inter"/>
              </a:defRPr>
            </a:pPr>
            <a:r>
              <a:t>✅  Tous les voyants au vert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280160"/>
            <a:ext cx="38100" cy="438912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1280160"/>
            <a:ext cx="5212080" cy="438912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4630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1" i="0">
                <a:solidFill>
                  <a:srgbClr val="FF1744"/>
                </a:solidFill>
                <a:latin typeface="Inter"/>
              </a:defRPr>
            </a:pPr>
            <a:r>
              <a:t>TOP COEFFICIENTS LOGREG (XAI)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1965960"/>
            <a:ext cx="448056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21945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E8E8E8"/>
                </a:solidFill>
                <a:latin typeface="Courier New"/>
              </a:defRPr>
            </a:pPr>
            <a:r>
              <a:t>reuters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21945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2200" b="1" i="0">
                <a:solidFill>
                  <a:srgbClr val="FF1744"/>
                </a:solidFill>
                <a:latin typeface="Courier New"/>
              </a:defRPr>
            </a:pPr>
            <a:r>
              <a:t>+0.84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6517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E8E8E8"/>
                </a:solidFill>
                <a:latin typeface="Courier New"/>
              </a:defRPr>
            </a:pPr>
            <a:r>
              <a:t>afp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651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2200" b="1" i="0">
                <a:solidFill>
                  <a:srgbClr val="FF1744"/>
                </a:solidFill>
                <a:latin typeface="Courier New"/>
              </a:defRPr>
            </a:pPr>
            <a:r>
              <a:t>+0.71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1089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E8E8E8"/>
                </a:solidFill>
                <a:latin typeface="Courier New"/>
              </a:defRPr>
            </a:pPr>
            <a:r>
              <a:t>ap_news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31089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2200" b="1" i="0">
                <a:solidFill>
                  <a:srgbClr val="FF1744"/>
                </a:solidFill>
                <a:latin typeface="Courier New"/>
              </a:defRPr>
            </a:pPr>
            <a:r>
              <a:t>+0.69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5661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E8E8E8"/>
                </a:solidFill>
                <a:latin typeface="Courier New"/>
              </a:defRPr>
            </a:pPr>
            <a:r>
              <a:t>associated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35661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2200" b="1" i="0">
                <a:solidFill>
                  <a:srgbClr val="FF1744"/>
                </a:solidFill>
                <a:latin typeface="Courier New"/>
              </a:defRPr>
            </a:pPr>
            <a:r>
              <a:t>+0.63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0233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E8E8E8"/>
                </a:solidFill>
                <a:latin typeface="Courier New"/>
              </a:defRPr>
            </a:pPr>
            <a:r>
              <a:t>press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40233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2200" b="1" i="0">
                <a:solidFill>
                  <a:srgbClr val="FF1744"/>
                </a:solidFill>
                <a:latin typeface="Courier New"/>
              </a:defRPr>
            </a:pPr>
            <a:r>
              <a:t>+0.58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572000"/>
            <a:ext cx="4572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D600"/>
                </a:solidFill>
                <a:latin typeface="Inter"/>
              </a:defRPr>
            </a:pPr>
            <a:r>
              <a:t>⚠️  Le modèle apprend le STYLE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D600"/>
                </a:solidFill>
                <a:latin typeface="Inter"/>
              </a:defRPr>
            </a:pPr>
            <a:r>
              <a:t>     des agences de presse, pas les faits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0" i="1">
                <a:solidFill>
                  <a:srgbClr val="FF1744"/>
                </a:solidFill>
                <a:latin typeface="Inter"/>
              </a:defRPr>
            </a:pPr>
            <a:r>
              <a:t>Sans XAI, on aurait livré un modèle qui collapse en production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ThumaCheck  ·  Client : Thumalien  ·  M1 BDIA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06060"/>
                </a:solidFill>
                <a:latin typeface="Inter"/>
              </a:defRPr>
            </a:pPr>
            <a: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4400" b="1">
                <a:solidFill>
                  <a:srgbClr val="00D4FF"/>
                </a:solidFill>
                <a:latin typeface="Inter"/>
              </a:defRPr>
            </a:pPr>
            <a:r>
              <a:t>ARCHITECTURE — 8 CONTENEURS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017520" cy="128016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8E8E8"/>
                </a:solidFill>
                <a:latin typeface="Inter"/>
              </a:defRPr>
            </a:pPr>
            <a:r>
              <a:t>Bluesky</a:t>
            </a:r>
          </a:p>
          <a:p>
            <a:pPr algn="ctr">
              <a:defRPr sz="1400">
                <a:solidFill>
                  <a:srgbClr val="B0B0B0"/>
                </a:solidFill>
                <a:latin typeface="Inter"/>
              </a:defRPr>
            </a:pPr>
            <a:r>
              <a:t>AT Proto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280160"/>
            <a:ext cx="3017520" cy="128016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8E8E8"/>
                </a:solidFill>
                <a:latin typeface="Inter"/>
              </a:defRPr>
            </a:pPr>
            <a:r>
              <a:t>Collector</a:t>
            </a:r>
          </a:p>
          <a:p>
            <a:pPr algn="ctr">
              <a:defRPr sz="1400">
                <a:solidFill>
                  <a:srgbClr val="B0B0B0"/>
                </a:solidFill>
                <a:latin typeface="Inter"/>
              </a:defRPr>
            </a:pPr>
            <a:r>
              <a:t>(Python)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280160"/>
            <a:ext cx="3017520" cy="128016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8E8E8"/>
                </a:solidFill>
                <a:latin typeface="Inter"/>
              </a:defRPr>
            </a:pPr>
            <a:r>
              <a:t>MongoDB</a:t>
            </a:r>
          </a:p>
          <a:p>
            <a:pPr algn="ctr">
              <a:defRPr sz="1400">
                <a:solidFill>
                  <a:srgbClr val="B0B0B0"/>
                </a:solidFill>
                <a:latin typeface="Inter"/>
              </a:defRPr>
            </a:pPr>
            <a:r>
              <a:t>(storage)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3108960"/>
            <a:ext cx="3017520" cy="146304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8E8E8"/>
                </a:solidFill>
                <a:latin typeface="Inter"/>
              </a:defRPr>
            </a:pPr>
            <a:r>
              <a:t>Detector</a:t>
            </a:r>
          </a:p>
          <a:p>
            <a:pPr algn="ctr">
              <a:defRPr sz="1400">
                <a:solidFill>
                  <a:srgbClr val="B0B0B0"/>
                </a:solidFill>
                <a:latin typeface="Inter"/>
              </a:defRPr>
            </a:pPr>
            <a:r>
              <a:t>V5 + V6 + CamBERT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3108960"/>
            <a:ext cx="3017520" cy="146304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8E8E8"/>
                </a:solidFill>
                <a:latin typeface="Inter"/>
              </a:defRPr>
            </a:pPr>
            <a:r>
              <a:t>Pipeline Cascade</a:t>
            </a:r>
          </a:p>
          <a:p>
            <a:pPr algn="ctr">
              <a:defRPr sz="1400">
                <a:solidFill>
                  <a:srgbClr val="B0B0B0"/>
                </a:solidFill>
                <a:latin typeface="Inter"/>
              </a:defRPr>
            </a:pPr>
            <a:r>
              <a:t>Stage 1+2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3017520" cy="146304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524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8E8E8"/>
                </a:solidFill>
                <a:latin typeface="Inter"/>
              </a:defRPr>
            </a:pPr>
            <a:r>
              <a:t>Streamlit</a:t>
            </a:r>
          </a:p>
          <a:p>
            <a:pPr algn="ctr">
              <a:defRPr sz="1400">
                <a:solidFill>
                  <a:srgbClr val="B0B0B0"/>
                </a:solidFill>
                <a:latin typeface="Inter"/>
              </a:defRPr>
            </a:pPr>
            <a: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120640"/>
            <a:ext cx="3017520" cy="109728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5240">
            <a:solidFill>
              <a:srgbClr val="008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8E8E8"/>
                </a:solidFill>
                <a:latin typeface="Inter"/>
              </a:defRPr>
            </a:pPr>
            <a:r>
              <a:t>XAI Engine</a:t>
            </a:r>
          </a:p>
          <a:p>
            <a:pPr algn="ctr">
              <a:defRPr sz="1400">
                <a:solidFill>
                  <a:srgbClr val="B0B0B0"/>
                </a:solidFill>
                <a:latin typeface="Inter"/>
              </a:defRPr>
            </a:pPr>
            <a:r>
              <a:t>SHAP + Captum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5120640"/>
            <a:ext cx="3017520" cy="109728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5240">
            <a:solidFill>
              <a:srgbClr val="008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8E8E8"/>
                </a:solidFill>
                <a:latin typeface="Inter"/>
              </a:defRPr>
            </a:pPr>
            <a:r>
              <a:t>Monitoring</a:t>
            </a:r>
          </a:p>
          <a:p>
            <a:pPr algn="ctr">
              <a:defRPr sz="1400">
                <a:solidFill>
                  <a:srgbClr val="B0B0B0"/>
                </a:solidFill>
                <a:latin typeface="Inter"/>
              </a:defRPr>
            </a:pPr>
            <a:r>
              <a:t>CodeCarbon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92024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400" b="0" i="0">
                <a:solidFill>
                  <a:srgbClr val="00D4FF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92024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400" b="0" i="0">
                <a:solidFill>
                  <a:srgbClr val="00D4FF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84048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400" b="0" i="0">
                <a:solidFill>
                  <a:srgbClr val="00D4FF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84048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400" b="0" i="0">
                <a:solidFill>
                  <a:srgbClr val="00D4FF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566928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400" b="0" i="0">
                <a:solidFill>
                  <a:srgbClr val="00D4FF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56032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00D4FF"/>
                </a:solidFill>
                <a:latin typeface="Inter"/>
              </a:defRPr>
            </a:pPr>
            <a: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56032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00D4FF"/>
                </a:solidFill>
                <a:latin typeface="Inter"/>
              </a:defRPr>
            </a:pPr>
            <a: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57200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00D4FF"/>
                </a:solidFill>
                <a:latin typeface="Inter"/>
              </a:defRPr>
            </a:pPr>
            <a: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0080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1300" b="0" i="1">
                <a:solidFill>
                  <a:srgbClr val="606060"/>
                </a:solidFill>
                <a:latin typeface="Inter"/>
              </a:defRPr>
            </a:pPr>
            <a:r>
              <a:t>Données → IA → Décision  |  C4 Model  |  Docker Compose  |  FastAPI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ThumaCheck  ·  Client : Thumalien  ·  M1 BDIA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06060"/>
                </a:solidFill>
                <a:latin typeface="Inter"/>
              </a:defRPr>
            </a:pPr>
            <a: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4400" b="1">
                <a:solidFill>
                  <a:srgbClr val="00D4FF"/>
                </a:solidFill>
                <a:latin typeface="Inter"/>
              </a:defRPr>
            </a:pPr>
            <a:r>
              <a:t>PIPELINE CASCADE — INFÉRENCE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371600" cy="50292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16152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 b="1" i="0">
                <a:solidFill>
                  <a:srgbClr val="00D4FF"/>
                </a:solidFill>
                <a:latin typeface="Inter"/>
              </a:defRPr>
            </a:pPr>
            <a:r>
              <a:t>User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691640"/>
            <a:ext cx="12700" cy="41148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57400" y="1188720"/>
            <a:ext cx="1371600" cy="50292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1216152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 b="1" i="0">
                <a:solidFill>
                  <a:srgbClr val="00D4FF"/>
                </a:solidFill>
                <a:latin typeface="Inter"/>
              </a:defRPr>
            </a:pPr>
            <a:r>
              <a:t>Stage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691640"/>
            <a:ext cx="12700" cy="41148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1188720"/>
            <a:ext cx="1371600" cy="50292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216152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 b="1" i="0">
                <a:solidFill>
                  <a:srgbClr val="00D4FF"/>
                </a:solidFill>
                <a:latin typeface="Inter"/>
              </a:defRPr>
            </a:pPr>
            <a:r>
              <a:t>V5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12700" cy="41148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57800" y="1188720"/>
            <a:ext cx="1371600" cy="50292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1216152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 b="1" i="0">
                <a:solidFill>
                  <a:srgbClr val="00D4FF"/>
                </a:solidFill>
                <a:latin typeface="Inter"/>
              </a:defRPr>
            </a:pPr>
            <a:r>
              <a:t>V6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691640"/>
            <a:ext cx="12700" cy="41148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0" y="1188720"/>
            <a:ext cx="1371600" cy="50292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216152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 b="1" i="0">
                <a:solidFill>
                  <a:srgbClr val="00D4FF"/>
                </a:solidFill>
                <a:latin typeface="Inter"/>
              </a:defRPr>
            </a:pPr>
            <a:r>
              <a:t>CamBERT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1691640"/>
            <a:ext cx="12700" cy="41148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58200" y="1188720"/>
            <a:ext cx="1371600" cy="50292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216152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 b="1" i="0">
                <a:solidFill>
                  <a:srgbClr val="00D4FF"/>
                </a:solidFill>
                <a:latin typeface="Inter"/>
              </a:defRPr>
            </a:pPr>
            <a:r>
              <a:t>V8 Méta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691640"/>
            <a:ext cx="12700" cy="41148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58400" y="1188720"/>
            <a:ext cx="1371600" cy="50292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1216152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 b="1" i="0">
                <a:solidFill>
                  <a:srgbClr val="00D4FF"/>
                </a:solidFill>
                <a:latin typeface="Inter"/>
              </a:defRPr>
            </a:pPr>
            <a:r>
              <a:t>XAI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44200" y="1691640"/>
            <a:ext cx="12700" cy="41148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2011680"/>
            <a:ext cx="16002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1783080"/>
            <a:ext cx="1600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B0B0B0"/>
                </a:solidFill>
                <a:latin typeface="Inter"/>
              </a:defRPr>
            </a:pPr>
            <a:r>
              <a:t>texte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2468880"/>
            <a:ext cx="3657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2240280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B0B0B0"/>
                </a:solidFill>
                <a:latin typeface="Inter"/>
              </a:defRPr>
            </a:pPr>
            <a:r>
              <a:t>opinion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2926080"/>
            <a:ext cx="16002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2697480"/>
            <a:ext cx="1600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B0B0B0"/>
                </a:solidFill>
                <a:latin typeface="Inter"/>
              </a:defRPr>
            </a:pPr>
            <a:r>
              <a:t>si factuel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291840"/>
            <a:ext cx="16002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3063240"/>
            <a:ext cx="1600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B0B0B0"/>
                </a:solidFill>
                <a:latin typeface="Inter"/>
              </a:defRPr>
            </a:pPr>
            <a:r>
              <a:t>score TF-IDF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3657600"/>
            <a:ext cx="16002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3429000"/>
            <a:ext cx="1600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B0B0B0"/>
                </a:solidFill>
                <a:latin typeface="Inter"/>
              </a:defRPr>
            </a:pPr>
            <a:r>
              <a:t>score style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43800" y="4023359"/>
            <a:ext cx="16002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43800" y="3794759"/>
            <a:ext cx="1600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B0B0B0"/>
                </a:solidFill>
                <a:latin typeface="Inter"/>
              </a:defRPr>
            </a:pPr>
            <a:r>
              <a:t>embedding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4389120"/>
            <a:ext cx="16002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4160520"/>
            <a:ext cx="1600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B0B0B0"/>
                </a:solidFill>
                <a:latin typeface="Inter"/>
              </a:defRPr>
            </a:pPr>
            <a:r>
              <a:t>décomposition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4846320"/>
            <a:ext cx="64008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0" y="4617720"/>
            <a:ext cx="6400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B0B0B0"/>
                </a:solidFill>
                <a:latin typeface="Inter"/>
              </a:defRPr>
            </a:pPr>
            <a:r>
              <a:t>score V8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5212079"/>
            <a:ext cx="16002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4983479"/>
            <a:ext cx="1600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B0B0B0"/>
                </a:solidFill>
                <a:latin typeface="Inter"/>
              </a:defRPr>
            </a:pPr>
            <a:r>
              <a:t>score + XAI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0" y="5486400"/>
            <a:ext cx="2743200" cy="64008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553212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000" b="1" i="0">
                <a:solidFill>
                  <a:srgbClr val="FFD600"/>
                </a:solidFill>
                <a:latin typeface="Inter"/>
              </a:defRPr>
            </a:pPr>
            <a:r>
              <a:t>⏱  1.5 ms total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66928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1">
                <a:solidFill>
                  <a:srgbClr val="B0B0B0"/>
                </a:solidFill>
                <a:latin typeface="Inter"/>
              </a:defRPr>
            </a:pPr>
            <a:r>
              <a:t>⚖️ opinion ≠ fake news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ThumaCheck  ·  Client : Thumalien  ·  M1 BDIA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06060"/>
                </a:solidFill>
                <a:latin typeface="Inter"/>
              </a:defRPr>
            </a:pPr>
            <a: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4400" b="1">
                <a:solidFill>
                  <a:srgbClr val="00D4FF"/>
                </a:solidFill>
                <a:latin typeface="Inter"/>
              </a:defRPr>
            </a:pPr>
            <a:r>
              <a:t>LA FIDÉLITÉ DES EXPLICATIONS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B0B0B0"/>
                </a:solidFill>
                <a:latin typeface="Inter"/>
              </a:defRPr>
            </a:pPr>
            <a:r>
              <a:t>Au-delà de SHAP : la mesurer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137160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91640"/>
            <a:ext cx="9784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600" b="0" i="0">
                <a:solidFill>
                  <a:srgbClr val="00D4FF"/>
                </a:solidFill>
                <a:latin typeface="Inter"/>
              </a:defRPr>
            </a:pPr>
            <a:r>
              <a:t>❓ Comment savez-vous que vos explications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2600" b="0" i="0">
                <a:solidFill>
                  <a:srgbClr val="00D4FF"/>
                </a:solidFill>
                <a:latin typeface="Inter"/>
              </a:defRPr>
            </a:pPr>
            <a:r>
              <a:t>    reflètent vraiment le comportement du modèle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301752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3600" b="0" i="0">
                <a:solidFill>
                  <a:srgbClr val="00D4FF"/>
                </a:solidFill>
                <a:latin typeface="Inter"/>
              </a:defRPr>
            </a:pPr>
            <a:r>
              <a:t>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10698480" cy="265176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749039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000" b="1" i="0">
                <a:solidFill>
                  <a:srgbClr val="E8E8E8"/>
                </a:solidFill>
                <a:latin typeface="Inter"/>
              </a:defRPr>
            </a:pPr>
            <a:r>
              <a:t>PROTOCOLE ERASER  (DeYoung et al., ACL 2020)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4206240"/>
            <a:ext cx="960120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389120"/>
            <a:ext cx="8686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900" b="0" i="0">
                <a:solidFill>
                  <a:srgbClr val="B0B0B0"/>
                </a:solidFill>
                <a:latin typeface="Inter"/>
              </a:defRPr>
            </a:pPr>
            <a:r>
              <a:t>1.  Identifier les top-k features via SHAP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754880"/>
            <a:ext cx="8686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900" b="0" i="0">
                <a:solidFill>
                  <a:srgbClr val="B0B0B0"/>
                </a:solidFill>
                <a:latin typeface="Inter"/>
              </a:defRPr>
            </a:pPr>
            <a:r>
              <a:t>2.  Masquer ces features (valeur = 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120640"/>
            <a:ext cx="8686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900" b="0" i="0">
                <a:solidFill>
                  <a:srgbClr val="B0B0B0"/>
                </a:solidFill>
                <a:latin typeface="Inter"/>
              </a:defRPr>
            </a:pPr>
            <a:r>
              <a:t>3.  Mesurer la chute de P(suspect)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486400"/>
            <a:ext cx="8686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900" b="0" i="0">
                <a:solidFill>
                  <a:srgbClr val="B0B0B0"/>
                </a:solidFill>
                <a:latin typeface="Inter"/>
              </a:defRPr>
            </a:pPr>
            <a:r>
              <a:t>4.  Comparer à un masquage aléatoire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852160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200" b="1" i="0">
                <a:solidFill>
                  <a:srgbClr val="FFD600"/>
                </a:solidFill>
                <a:latin typeface="Inter"/>
              </a:defRPr>
            </a:pPr>
            <a:r>
              <a:t>Si fidèle :  chute_attribution  ≫  chute_random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ThumaCheck  ·  Client : Thumalien  ·  M1 BDIA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06060"/>
                </a:solidFill>
                <a:latin typeface="Inter"/>
              </a:defRPr>
            </a:pPr>
            <a: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4000" b="1">
                <a:solidFill>
                  <a:srgbClr val="00E676"/>
                </a:solidFill>
                <a:latin typeface="Inter"/>
              </a:defRPr>
            </a:pPr>
            <a:r>
              <a:t>RÉSULTAT FAITHFULNESS — UPLIFT +21%</a:t>
            </a:r>
          </a:p>
        </p:txBody>
      </p:sp>
      <p:pic>
        <p:nvPicPr>
          <p:cNvPr id="3" name="Picture 2" descr="faithfulness_aop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498079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0" y="1280160"/>
            <a:ext cx="3657600" cy="484632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46304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00E676"/>
                </a:solidFill>
                <a:latin typeface="Inter"/>
              </a:defRPr>
            </a:pPr>
            <a:r>
              <a:t>MÉTRIQUES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0" y="1874519"/>
            <a:ext cx="310896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201168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B0B0B0"/>
                </a:solidFill>
                <a:latin typeface="Inter"/>
              </a:defRPr>
            </a:pPr>
            <a:r>
              <a:t>AOPC attrib.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201168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1700" b="1" i="0">
                <a:solidFill>
                  <a:srgbClr val="E8E8E8"/>
                </a:solidFill>
                <a:latin typeface="Inter"/>
              </a:defRPr>
            </a:pPr>
            <a:r>
              <a:t>0.253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33172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B0B0B0"/>
                </a:solidFill>
                <a:latin typeface="Inter"/>
              </a:defRPr>
            </a:pPr>
            <a:r>
              <a:t>AOPC random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233172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1700" b="1" i="0">
                <a:solidFill>
                  <a:srgbClr val="B0B0B0"/>
                </a:solidFill>
                <a:latin typeface="Inter"/>
              </a:defRPr>
            </a:pPr>
            <a:r>
              <a:t>0.045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2697480"/>
            <a:ext cx="310896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83464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B0B0B0"/>
                </a:solidFill>
                <a:latin typeface="Inter"/>
              </a:defRPr>
            </a:pPr>
            <a:r>
              <a:t>Uplift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28346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1800" b="1" i="0">
                <a:solidFill>
                  <a:srgbClr val="00E676"/>
                </a:solidFill>
                <a:latin typeface="Inter"/>
              </a:defRPr>
            </a:pPr>
            <a:r>
              <a:t>+0.21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182112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B0B0B0"/>
                </a:solidFill>
                <a:latin typeface="Inter"/>
              </a:defRPr>
            </a:pPr>
            <a:r>
              <a:t>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3182112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1800" b="1" i="0">
                <a:solidFill>
                  <a:srgbClr val="00E676"/>
                </a:solidFill>
                <a:latin typeface="Inter"/>
              </a:defRPr>
            </a:pPr>
            <a:r>
              <a:t>5.6×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3575304"/>
            <a:ext cx="310896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3712464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B0B0B0"/>
                </a:solidFill>
                <a:latin typeface="Inter"/>
              </a:defRPr>
            </a:pPr>
            <a:r>
              <a:t>Compr.@5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3712464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E8E8E8"/>
                </a:solidFill>
                <a:latin typeface="Inter"/>
              </a:defRPr>
            </a:pPr>
            <a:r>
              <a:t>0.232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032504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B0B0B0"/>
                </a:solidFill>
                <a:latin typeface="Inter"/>
              </a:defRPr>
            </a:pPr>
            <a:r>
              <a:t>Suff.@5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4032504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E8E8E8"/>
                </a:solidFill>
                <a:latin typeface="Inter"/>
              </a:defRPr>
            </a:pPr>
            <a:r>
              <a:t>0.058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489704"/>
            <a:ext cx="3108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00E676"/>
                </a:solidFill>
                <a:latin typeface="Inter"/>
              </a:defRPr>
            </a:pPr>
            <a:r>
              <a:t>✅ Cible &gt; +0.10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00E676"/>
                </a:solidFill>
                <a:latin typeface="Inter"/>
              </a:defRPr>
            </a:pPr>
            <a:r>
              <a:t>✅ Atteinte (× 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ThumaCheck  ·  Client : Thumalien  ·  M1 BDIA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06060"/>
                </a:solidFill>
                <a:latin typeface="Inter"/>
              </a:defRPr>
            </a:pPr>
            <a: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4400" b="1">
                <a:solidFill>
                  <a:srgbClr val="00D4FF"/>
                </a:solidFill>
                <a:latin typeface="Inter"/>
              </a:defRPr>
            </a:pPr>
            <a:r>
              <a:t>QUALITÉ INDUSTRIELLE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B0B0B0"/>
                </a:solidFill>
                <a:latin typeface="Inter"/>
              </a:defRPr>
            </a:pPr>
            <a:r>
              <a:t>501 tests  ·  80 % coverage  ·  80,3 % mutation kill rate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457200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1" i="0">
                <a:solidFill>
                  <a:srgbClr val="00D4FF"/>
                </a:solidFill>
                <a:latin typeface="Inter"/>
              </a:defRPr>
            </a:pPr>
            <a:r>
              <a:t>PYTEST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91839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8000" b="1" i="0">
                <a:solidFill>
                  <a:srgbClr val="00D4FF"/>
                </a:solidFill>
                <a:latin typeface="Inter"/>
              </a:defRPr>
            </a:pPr>
            <a:r>
              <a:t>501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310896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Inter"/>
              </a:defRPr>
            </a:pPr>
            <a:r>
              <a:t>tests passing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Inter"/>
              </a:defRPr>
            </a:pPr>
          </a:p>
          <a:p>
            <a:pPr algn="ctr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Inter"/>
              </a:defRPr>
            </a:pPr>
            <a:r>
              <a:t>✅ 0 failure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Inter"/>
              </a:defRPr>
            </a:pPr>
            <a:r>
              <a:t>✅ 0 skip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74720" cy="457200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459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1" i="0">
                <a:solidFill>
                  <a:srgbClr val="00E676"/>
                </a:solidFill>
                <a:latin typeface="Inter"/>
              </a:defRPr>
            </a:pPr>
            <a:r>
              <a:t>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103120"/>
            <a:ext cx="3291839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8000" b="1" i="0">
                <a:solidFill>
                  <a:srgbClr val="00E676"/>
                </a:solidFill>
                <a:latin typeface="Inter"/>
              </a:defRPr>
            </a:pPr>
            <a:r>
              <a:t>80 %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474720"/>
            <a:ext cx="310896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Inter"/>
              </a:defRPr>
            </a:pPr>
            <a:r>
              <a:t>line coverage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Inter"/>
              </a:defRPr>
            </a:pPr>
            <a:r>
              <a:t>77,9 % branch cov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Inter"/>
              </a:defRPr>
            </a:pPr>
          </a:p>
          <a:p>
            <a:pPr algn="ctr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Inter"/>
              </a:defRPr>
            </a:pPr>
            <a:r>
              <a:t>Quality gate CI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Inter"/>
              </a:defRPr>
            </a:pPr>
            <a:r>
              <a:t>--fail-under=75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63040"/>
            <a:ext cx="3474720" cy="457200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6459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1" i="0">
                <a:solidFill>
                  <a:srgbClr val="FFD600"/>
                </a:solidFill>
                <a:latin typeface="Inter"/>
              </a:defRPr>
            </a:pPr>
            <a:r>
              <a:t>MUTMUT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103120"/>
            <a:ext cx="3291839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8000" b="1" i="0">
                <a:solidFill>
                  <a:srgbClr val="FFD600"/>
                </a:solidFill>
                <a:latin typeface="Inter"/>
              </a:defRPr>
            </a:pPr>
            <a:r>
              <a:t>80,3 %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474720"/>
            <a:ext cx="310896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Inter"/>
              </a:defRPr>
            </a:pPr>
            <a:r>
              <a:t>kill rate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Inter"/>
              </a:defRPr>
            </a:pPr>
            <a:r>
              <a:t>143 / 178 mutants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Inter"/>
              </a:defRPr>
            </a:pPr>
          </a:p>
          <a:p>
            <a:pPr algn="ctr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Inter"/>
              </a:defRPr>
            </a:pPr>
            <a:r>
              <a:t>&gt; benchmark Google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Inter"/>
              </a:defRPr>
            </a:pPr>
            <a:r>
              <a:t>(60–75 %)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600" b="0" i="1">
                <a:solidFill>
                  <a:srgbClr val="B0B0B0"/>
                </a:solidFill>
                <a:latin typeface="Inter"/>
              </a:defRPr>
            </a:pPr>
            <a:r>
              <a:t>De la quantité à la qualité — chaque ligne de production est validée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ThumaCheck  ·  Client : Thumalien  ·  M1 BDIA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06060"/>
                </a:solidFill>
                <a:latin typeface="Inter"/>
              </a:defRPr>
            </a:pPr>
            <a: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4400" b="1">
                <a:solidFill>
                  <a:srgbClr val="00D4FF"/>
                </a:solidFill>
                <a:latin typeface="Inter"/>
              </a:defRPr>
            </a:pPr>
            <a:r>
              <a:t>CONFORMITÉ RÉGLEMENTAIRE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1" i="0">
                <a:solidFill>
                  <a:srgbClr val="00D4FF"/>
                </a:solidFill>
                <a:latin typeface="Inter"/>
              </a:defRPr>
            </a:pPr>
            <a:r>
              <a:t>AI ACT  (UE 2024/1689)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3258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0" i="1">
                <a:solidFill>
                  <a:srgbClr val="B0B0B0"/>
                </a:solidFill>
                <a:latin typeface="Inter"/>
              </a:defRPr>
            </a:pPr>
            <a:r>
              <a:t>pleinement applicable août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69848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800" b="0" i="0">
                <a:solidFill>
                  <a:srgbClr val="00E676"/>
                </a:solidFill>
                <a:latin typeface="Inter"/>
              </a:defRPr>
            </a:pPr>
            <a: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900" b="0" i="0">
                <a:solidFill>
                  <a:srgbClr val="E8E8E8"/>
                </a:solidFill>
                <a:latin typeface="Inter"/>
              </a:defRPr>
            </a:pPr>
            <a:r>
              <a:t>Art. 13 (transparence)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92024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Courier New"/>
              </a:defRPr>
            </a:pPr>
            <a:r>
              <a:t>→  Model Card MC-THUM-2026-001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800" b="0" i="0">
                <a:solidFill>
                  <a:srgbClr val="00E676"/>
                </a:solidFill>
                <a:latin typeface="Inter"/>
              </a:defRPr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2316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900" b="0" i="0">
                <a:solidFill>
                  <a:srgbClr val="E8E8E8"/>
                </a:solidFill>
                <a:latin typeface="Inter"/>
              </a:defRPr>
            </a:pPr>
            <a:r>
              <a:t>Art. 14 (supervision)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42316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Courier New"/>
              </a:defRPr>
            </a:pPr>
            <a:r>
              <a:t>→  Décomposition β·x dans le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800" b="0" i="0">
                <a:solidFill>
                  <a:srgbClr val="00E676"/>
                </a:solidFill>
                <a:latin typeface="Inter"/>
              </a:defRPr>
            </a:pPr>
            <a: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900" b="0" i="0">
                <a:solidFill>
                  <a:srgbClr val="E8E8E8"/>
                </a:solidFill>
                <a:latin typeface="Inter"/>
              </a:defRPr>
            </a:pPr>
            <a:r>
              <a:t>Risque limité classifié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2608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Courier New"/>
              </a:defRPr>
            </a:pPr>
            <a:r>
              <a:t>→  Doc 02 § 4.1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66160"/>
            <a:ext cx="10698480" cy="12700"/>
          </a:xfrm>
          <a:prstGeom prst="rect">
            <a:avLst/>
          </a:prstGeom>
          <a:solidFill>
            <a:srgbClr val="008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1" i="0">
                <a:solidFill>
                  <a:srgbClr val="00D4FF"/>
                </a:solidFill>
                <a:latin typeface="Inter"/>
              </a:defRPr>
            </a:pPr>
            <a:r>
              <a:t>RGPD  (UE 2016/679)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51960"/>
            <a:ext cx="1069848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348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800" b="0" i="0">
                <a:solidFill>
                  <a:srgbClr val="00E676"/>
                </a:solidFill>
                <a:latin typeface="Inter"/>
              </a:defRPr>
            </a:pPr>
            <a: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4348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900" b="0" i="0">
                <a:solidFill>
                  <a:srgbClr val="E8E8E8"/>
                </a:solidFill>
                <a:latin typeface="Inter"/>
              </a:defRPr>
            </a:pPr>
            <a:r>
              <a:t>Art. 22 (décision auto)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43484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Courier New"/>
              </a:defRPr>
            </a:pPr>
            <a:r>
              <a:t>→  Droit à l'explication SHAP + Captum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37759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800" b="0" i="0">
                <a:solidFill>
                  <a:srgbClr val="00E676"/>
                </a:solidFill>
                <a:latin typeface="Inter"/>
              </a:defRPr>
            </a:pPr>
            <a: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937759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900" b="0" i="0">
                <a:solidFill>
                  <a:srgbClr val="E8E8E8"/>
                </a:solidFill>
                <a:latin typeface="Inter"/>
              </a:defRPr>
            </a:pPr>
            <a:r>
              <a:t>Art. 35 (AIPD)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937759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Courier New"/>
              </a:defRPr>
            </a:pPr>
            <a:r>
              <a:t>→  Document RGPD-THUM-2026-001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40679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800" b="0" i="0">
                <a:solidFill>
                  <a:srgbClr val="00E676"/>
                </a:solidFill>
                <a:latin typeface="Inter"/>
              </a:defRPr>
            </a:pPr>
            <a: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440679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900" b="0" i="0">
                <a:solidFill>
                  <a:srgbClr val="E8E8E8"/>
                </a:solidFill>
                <a:latin typeface="Inter"/>
              </a:defRPr>
            </a:pPr>
            <a:r>
              <a:t>Base légale art. 6.1.f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440679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Courier New"/>
              </a:defRPr>
            </a:pPr>
            <a:r>
              <a:t>→  Posts publics, intérêt légitime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ThumaCheck  ·  Client : Thumalien  ·  M1 BDIA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06060"/>
                </a:solidFill>
                <a:latin typeface="Inter"/>
              </a:defRPr>
            </a:pPr>
            <a: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4400" b="1">
                <a:solidFill>
                  <a:srgbClr val="00E676"/>
                </a:solidFill>
                <a:latin typeface="Inter"/>
              </a:defRPr>
            </a:pPr>
            <a:r>
              <a:t>GREEN IT — ≈ 6,88 g CO₂ TOTAL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512064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700" b="1" i="0">
                <a:solidFill>
                  <a:srgbClr val="00E676"/>
                </a:solidFill>
                <a:latin typeface="Inter"/>
              </a:defRPr>
            </a:pPr>
            <a:r>
              <a:t>RÉPARTITION EMPREINTE CO₂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74519"/>
            <a:ext cx="457200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E8E8E8"/>
                </a:solidFill>
                <a:latin typeface="Inter"/>
              </a:defRPr>
            </a:pPr>
            <a:r>
              <a:t>RoBERTa EN (V1+V2)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31720"/>
            <a:ext cx="2057400" cy="256032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230428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 i="0">
                <a:solidFill>
                  <a:srgbClr val="B0B0B0"/>
                </a:solidFill>
                <a:latin typeface="Inter"/>
              </a:defRPr>
            </a:pPr>
            <a:r>
              <a:t>50 %  (3,47 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E8E8E8"/>
                </a:solidFill>
                <a:latin typeface="Inter"/>
              </a:defRPr>
            </a:pPr>
            <a:r>
              <a:t>V5 LogReg (3 runs)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71800"/>
            <a:ext cx="1316736" cy="256032"/>
          </a:xfrm>
          <a:prstGeom prst="roundRect">
            <a:avLst>
              <a:gd name="adj" fmla="val 50000"/>
            </a:avLst>
          </a:prstGeom>
          <a:solidFill>
            <a:srgbClr val="008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22576" y="294436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 i="0">
                <a:solidFill>
                  <a:srgbClr val="B0B0B0"/>
                </a:solidFill>
                <a:latin typeface="Inter"/>
              </a:defRPr>
            </a:pPr>
            <a:r>
              <a:t>32 %  (2,18 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375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E8E8E8"/>
                </a:solidFill>
                <a:latin typeface="Inter"/>
              </a:defRPr>
            </a:pPr>
            <a:r>
              <a:t>CamemBERT fine-tune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11879"/>
            <a:ext cx="288036" cy="25603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3876" y="358444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 i="0">
                <a:solidFill>
                  <a:srgbClr val="B0B0B0"/>
                </a:solidFill>
                <a:latin typeface="Inter"/>
              </a:defRPr>
            </a:pPr>
            <a:r>
              <a:t>7 %  (0,48 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E8E8E8"/>
                </a:solidFill>
                <a:latin typeface="Inter"/>
              </a:defRPr>
            </a:pPr>
            <a:r>
              <a:t>V6 GradientBoost*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251959"/>
            <a:ext cx="205740" cy="256032"/>
          </a:xfrm>
          <a:prstGeom prst="roundRect">
            <a:avLst>
              <a:gd name="adj" fmla="val 50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11580" y="4224527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 i="0">
                <a:solidFill>
                  <a:srgbClr val="B0B0B0"/>
                </a:solidFill>
                <a:latin typeface="Inter"/>
              </a:defRPr>
            </a:pPr>
            <a:r>
              <a:t>5 %  (~0,36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E8E8E8"/>
                </a:solidFill>
                <a:latin typeface="Inter"/>
              </a:defRPr>
            </a:pPr>
            <a:r>
              <a:t>Pipeline XAI*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892040"/>
            <a:ext cx="123444" cy="256032"/>
          </a:xfrm>
          <a:prstGeom prst="roundRect">
            <a:avLst>
              <a:gd name="adj" fmla="val 50000"/>
            </a:avLst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9284" y="4864607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 i="0">
                <a:solidFill>
                  <a:srgbClr val="B0B0B0"/>
                </a:solidFill>
                <a:latin typeface="Inter"/>
              </a:defRPr>
            </a:pPr>
            <a:r>
              <a:t>3 %  (~0,23 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E8E8E8"/>
                </a:solidFill>
                <a:latin typeface="Inter"/>
              </a:defRPr>
            </a:pPr>
            <a:r>
              <a:t>Inférence cumulée*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532120"/>
            <a:ext cx="82296" cy="256032"/>
          </a:xfrm>
          <a:prstGeom prst="roundRect">
            <a:avLst>
              <a:gd name="adj" fmla="val 50000"/>
            </a:avLst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" y="550468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 i="0">
                <a:solidFill>
                  <a:srgbClr val="B0B0B0"/>
                </a:solidFill>
                <a:latin typeface="Inter"/>
              </a:defRPr>
            </a:pPr>
            <a:r>
              <a:t>2 %  (~0,15 g)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280160"/>
            <a:ext cx="5029200" cy="475488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463040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700" b="1" i="0">
                <a:solidFill>
                  <a:srgbClr val="00D4FF"/>
                </a:solidFill>
                <a:latin typeface="Inter"/>
              </a:defRPr>
            </a:pPr>
            <a:r>
              <a:t>DÉCISION ARCHITECTURALE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1874519"/>
            <a:ext cx="448056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210312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800" b="1" i="0">
                <a:solidFill>
                  <a:srgbClr val="00E676"/>
                </a:solidFill>
                <a:latin typeface="Inter"/>
              </a:defRPr>
            </a:pPr>
            <a:r>
              <a:t>Production temps réel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23160"/>
            <a:ext cx="4206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B0B0B0"/>
                </a:solidFill>
                <a:latin typeface="Inter"/>
              </a:defRPr>
            </a:pPr>
            <a:r>
              <a:t>→  V5 seul (1,5 ms, 0,6 g CO₂/jour)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20040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800" b="1" i="0">
                <a:solidFill>
                  <a:srgbClr val="00D4FF"/>
                </a:solidFill>
                <a:latin typeface="Inter"/>
              </a:defRPr>
            </a:pPr>
            <a:r>
              <a:t>Analyse offline batch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520440"/>
            <a:ext cx="4206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B0B0B0"/>
                </a:solidFill>
                <a:latin typeface="Inter"/>
              </a:defRPr>
            </a:pPr>
            <a:r>
              <a:t>→  V8 avec CamemBERT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B0B0B0"/>
                </a:solidFill>
                <a:latin typeface="Inter"/>
              </a:defRPr>
            </a:pPr>
            <a:r>
              <a:t>     (0,48 g CO₂ entraînement)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29768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800" b="1" i="0">
                <a:solidFill>
                  <a:srgbClr val="FFD600"/>
                </a:solidFill>
                <a:latin typeface="Inter"/>
              </a:defRPr>
            </a:pPr>
            <a:r>
              <a:t>ROI Green 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617720"/>
            <a:ext cx="4206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B0B0B0"/>
                </a:solidFill>
                <a:latin typeface="Inter"/>
              </a:defRPr>
            </a:pPr>
            <a:r>
              <a:t>→  Frugalité prod + puissance analyse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B0B0B0"/>
                </a:solidFill>
                <a:latin typeface="Inter"/>
              </a:defRPr>
            </a:pPr>
            <a:r>
              <a:t>→  Documenté Model Card § 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989320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100" b="0" i="1">
                <a:solidFill>
                  <a:srgbClr val="606060"/>
                </a:solidFill>
                <a:latin typeface="Inter"/>
              </a:defRPr>
            </a:pPr>
            <a:r>
              <a:t>* estimé via taux CodeCarbon (7,55×10⁻⁷ kg CO₂/s, Apple M4 Pro)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500" b="0" i="1">
                <a:solidFill>
                  <a:srgbClr val="606060"/>
                </a:solidFill>
                <a:latin typeface="Inter"/>
              </a:defRPr>
            </a:pPr>
            <a:r>
              <a:t>≈ 30 mètres en voiture — empreinte quasi-nulle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ThumaCheck  ·  Client : Thumalien  ·  M1 BDIA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06060"/>
                </a:solidFill>
                <a:latin typeface="Inter"/>
              </a:defRPr>
            </a:pPr>
            <a: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4400" b="1">
                <a:solidFill>
                  <a:srgbClr val="00D4FF"/>
                </a:solidFill>
                <a:latin typeface="Inter"/>
              </a:defRPr>
            </a:pPr>
            <a:r>
              <a:t>MÉTHODOLOGIE &amp; ORGANISATION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B0B0B0"/>
                </a:solidFill>
                <a:latin typeface="Inter"/>
              </a:defRPr>
            </a:pPr>
            <a:r>
              <a:t>CRISP-DM adapté  ·  9 versions  ·  28 notebooks  ·  16 work packages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457200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700" b="1" i="0">
                <a:solidFill>
                  <a:srgbClr val="00D4FF"/>
                </a:solidFill>
                <a:latin typeface="Inter"/>
              </a:defRPr>
            </a:pPr>
            <a:r>
              <a:t>CYCLE CRISP-DM ADAPTÉ ML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457200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00D4FF"/>
                </a:solidFill>
                <a:latin typeface="Inter"/>
              </a:defRPr>
            </a:pPr>
            <a: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4884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E8E8E8"/>
                </a:solidFill>
                <a:latin typeface="Inter"/>
              </a:defRPr>
            </a:pPr>
            <a:r>
              <a:t>Comprendre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14884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B0B0B0"/>
                </a:solidFill>
                <a:latin typeface="Inter"/>
              </a:defRPr>
            </a:pPr>
            <a:r>
              <a:t>Cahier des charges, 4 exigences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00D4FF"/>
                </a:solidFill>
                <a:latin typeface="Inter"/>
              </a:defRPr>
            </a:pPr>
            <a: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5176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E8E8E8"/>
                </a:solidFill>
                <a:latin typeface="Inter"/>
              </a:defRPr>
            </a:pPr>
            <a:r>
              <a:t>Explorer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65176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B0B0B0"/>
                </a:solidFill>
                <a:latin typeface="Inter"/>
              </a:defRPr>
            </a:pPr>
            <a:r>
              <a:t>245K posts, audit qualité données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5468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00E676"/>
                </a:solidFill>
                <a:latin typeface="Inter"/>
              </a:defRPr>
            </a:pPr>
            <a: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5468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E8E8E8"/>
                </a:solidFill>
                <a:latin typeface="Inter"/>
              </a:defRPr>
            </a:pPr>
            <a:r>
              <a:t>Préparer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1546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B0B0B0"/>
                </a:solidFill>
                <a:latin typeface="Inter"/>
              </a:defRPr>
            </a:pPr>
            <a:r>
              <a:t>Débiaisage Reuters, données synth.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5760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00E676"/>
                </a:solidFill>
                <a:latin typeface="Inter"/>
              </a:defRPr>
            </a:pPr>
            <a: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6576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E8E8E8"/>
                </a:solidFill>
                <a:latin typeface="Inter"/>
              </a:defRPr>
            </a:pPr>
            <a:r>
              <a:t>Modéliser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65760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B0B0B0"/>
                </a:solidFill>
                <a:latin typeface="Inter"/>
              </a:defRPr>
            </a:pPr>
            <a:r>
              <a:t>V1→V9, LogReg + CamemBERT + ensemble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605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D600"/>
                </a:solidFill>
                <a:latin typeface="Inter"/>
              </a:defRPr>
            </a:pPr>
            <a:r>
              <a:t>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1605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E8E8E8"/>
                </a:solidFill>
                <a:latin typeface="Inter"/>
              </a:defRPr>
            </a:pPr>
            <a:r>
              <a:t>Évaluer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16052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B0B0B0"/>
                </a:solidFill>
                <a:latin typeface="Inter"/>
              </a:defRPr>
            </a:pPr>
            <a:r>
              <a:t>Gold set 473 posts, faithfulness AOPC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634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D600"/>
                </a:solidFill>
                <a:latin typeface="Inter"/>
              </a:defRPr>
            </a:pPr>
            <a:r>
              <a:t>6.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66344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E8E8E8"/>
                </a:solidFill>
                <a:latin typeface="Inter"/>
              </a:defRPr>
            </a:pPr>
            <a:r>
              <a:t>Déployer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66344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B0B0B0"/>
                </a:solidFill>
                <a:latin typeface="Inter"/>
              </a:defRPr>
            </a:pPr>
            <a:r>
              <a:t>Docker Compose, CI/CD,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16636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1744"/>
                </a:solidFill>
                <a:latin typeface="Inter"/>
              </a:defRPr>
            </a:pPr>
            <a:r>
              <a:t>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16636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E8E8E8"/>
                </a:solidFill>
                <a:latin typeface="Inter"/>
              </a:defRPr>
            </a:pPr>
            <a:r>
              <a:t>Itérer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516636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B0B0B0"/>
                </a:solidFill>
                <a:latin typeface="Inter"/>
              </a:defRPr>
            </a:pPr>
            <a:r>
              <a:t>9 versions en 6 mois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371600"/>
            <a:ext cx="5029200" cy="457200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1554480"/>
            <a:ext cx="4480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700" b="1" i="0">
                <a:solidFill>
                  <a:srgbClr val="00E676"/>
                </a:solidFill>
                <a:latin typeface="Inter"/>
              </a:defRPr>
            </a:pPr>
            <a:r>
              <a:t>OUTILS &amp; INFRASTRUCTURE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1965960"/>
            <a:ext cx="448056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21488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1" i="0">
                <a:solidFill>
                  <a:srgbClr val="E8E8E8"/>
                </a:solidFill>
                <a:latin typeface="Inter"/>
              </a:defRPr>
            </a:pPr>
            <a:r>
              <a:t>Git + GitHub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1488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 i="0">
                <a:solidFill>
                  <a:srgbClr val="B0B0B0"/>
                </a:solidFill>
                <a:latin typeface="Inter"/>
              </a:defRPr>
            </a:pPr>
            <a:r>
              <a:t>Versioning, CI/CD, quality gates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26517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1" i="0">
                <a:solidFill>
                  <a:srgbClr val="E8E8E8"/>
                </a:solidFill>
                <a:latin typeface="Inter"/>
              </a:defRPr>
            </a:pPr>
            <a:r>
              <a:t>Docker Compose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65176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 i="0">
                <a:solidFill>
                  <a:srgbClr val="B0B0B0"/>
                </a:solidFill>
                <a:latin typeface="Inter"/>
              </a:defRPr>
            </a:pPr>
            <a:r>
              <a:t>4 conteneurs, déploiement 1 commande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1546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1" i="0">
                <a:solidFill>
                  <a:srgbClr val="E8E8E8"/>
                </a:solidFill>
                <a:latin typeface="Inter"/>
              </a:defRPr>
            </a:pPr>
            <a:r>
              <a:t>MongoDB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15468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 i="0">
                <a:solidFill>
                  <a:srgbClr val="B0B0B0"/>
                </a:solidFill>
                <a:latin typeface="Inter"/>
              </a:defRPr>
            </a:pPr>
            <a:r>
              <a:t>Stockage 245K posts, indexes, validation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6576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1" i="0">
                <a:solidFill>
                  <a:srgbClr val="E8E8E8"/>
                </a:solidFill>
                <a:latin typeface="Inter"/>
              </a:defRPr>
            </a:pPr>
            <a:r>
              <a:t>FastAPI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65760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 i="0">
                <a:solidFill>
                  <a:srgbClr val="B0B0B0"/>
                </a:solidFill>
                <a:latin typeface="Inter"/>
              </a:defRPr>
            </a:pPr>
            <a:r>
              <a:t>API REST pour intégration externe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41605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1" i="0">
                <a:solidFill>
                  <a:srgbClr val="E8E8E8"/>
                </a:solidFill>
                <a:latin typeface="Inter"/>
              </a:defRPr>
            </a:pPr>
            <a:r>
              <a:t>pytest + mutmut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16052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 i="0">
                <a:solidFill>
                  <a:srgbClr val="B0B0B0"/>
                </a:solidFill>
                <a:latin typeface="Inter"/>
              </a:defRPr>
            </a:pPr>
            <a:r>
              <a:t>501 tests, 80% coverage, 80.3% kill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46634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1" i="0">
                <a:solidFill>
                  <a:srgbClr val="E8E8E8"/>
                </a:solidFill>
                <a:latin typeface="Inter"/>
              </a:defRPr>
            </a:pPr>
            <a:r>
              <a:t>CodeCarbon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46634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 i="0">
                <a:solidFill>
                  <a:srgbClr val="B0B0B0"/>
                </a:solidFill>
                <a:latin typeface="Inter"/>
              </a:defRPr>
            </a:pPr>
            <a:r>
              <a:t>Suivi empreinte carbone par version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51663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1" i="0">
                <a:solidFill>
                  <a:srgbClr val="E8E8E8"/>
                </a:solidFill>
                <a:latin typeface="Inter"/>
              </a:defRPr>
            </a:pPr>
            <a:r>
              <a:t>Gantt 16 WP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516636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 i="0">
                <a:solidFill>
                  <a:srgbClr val="B0B0B0"/>
                </a:solidFill>
                <a:latin typeface="Inter"/>
              </a:defRPr>
            </a:pPr>
            <a:r>
              <a:t>28 jalons, planification détaillée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ThumaCheck  ·  Client : Thumalien  ·  M1 BDIA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06060"/>
                </a:solidFill>
                <a:latin typeface="Inter"/>
              </a:defRPr>
            </a:pPr>
            <a: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4400" b="1">
                <a:solidFill>
                  <a:srgbClr val="FFD600"/>
                </a:solidFill>
                <a:latin typeface="Inter"/>
              </a:defRPr>
            </a:pPr>
            <a:r>
              <a:t>ROI &amp; BUDGET — NIAMATO CONSULTING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5852160" cy="493776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D600"/>
                </a:solidFill>
                <a:latin typeface="Inter"/>
              </a:defRPr>
            </a:pPr>
            <a:r>
              <a:t>RETOUR SUR INVESTISSEMENT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12064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 i="0">
                <a:solidFill>
                  <a:srgbClr val="00D4FF"/>
                </a:solidFill>
                <a:latin typeface="Inter"/>
              </a:defRPr>
            </a:pPr>
            <a:r>
              <a:t>TEMPS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74519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3600" b="1" i="0">
                <a:solidFill>
                  <a:srgbClr val="00D4FF"/>
                </a:solidFill>
                <a:latin typeface="Inter"/>
              </a:defRPr>
            </a:pPr>
            <a:r>
              <a:t>x10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984248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B0B0B0"/>
                </a:solidFill>
                <a:latin typeface="Inter"/>
              </a:defRPr>
            </a:pPr>
            <a:r>
              <a:t>5 min → 30s / 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 i="0">
                <a:solidFill>
                  <a:srgbClr val="00E676"/>
                </a:solidFill>
                <a:latin typeface="Inter"/>
              </a:defRPr>
            </a:pPr>
            <a: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926079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3600" b="1" i="0">
                <a:solidFill>
                  <a:srgbClr val="00E676"/>
                </a:solidFill>
                <a:latin typeface="Inter"/>
              </a:defRPr>
            </a:pPr>
            <a:r>
              <a:t>x200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035808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B0B0B0"/>
                </a:solidFill>
                <a:latin typeface="Inter"/>
              </a:defRPr>
            </a:pPr>
            <a:r>
              <a:t>60K posts/jour auto.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69079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 i="0">
                <a:solidFill>
                  <a:srgbClr val="FFD600"/>
                </a:solidFill>
                <a:latin typeface="Inter"/>
              </a:defRPr>
            </a:pPr>
            <a:r>
              <a:t>RISQUE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977639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3600" b="1" i="0">
                <a:solidFill>
                  <a:srgbClr val="FFD600"/>
                </a:solidFill>
                <a:latin typeface="Inter"/>
              </a:defRPr>
            </a:pPr>
            <a:r>
              <a:t>-67%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087367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B0B0B0"/>
                </a:solidFill>
                <a:latin typeface="Inter"/>
              </a:defRPr>
            </a:pPr>
            <a:r>
              <a:t>faux positifs éliminés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206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 i="0">
                <a:solidFill>
                  <a:srgbClr val="FF1744"/>
                </a:solidFill>
                <a:latin typeface="Inter"/>
              </a:defRPr>
            </a:pPr>
            <a:r>
              <a:t>COÛT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0292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3600" b="1" i="0">
                <a:solidFill>
                  <a:srgbClr val="FF1744"/>
                </a:solidFill>
                <a:latin typeface="Inter"/>
              </a:defRPr>
            </a:pPr>
            <a:r>
              <a:t>≈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5138927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B0B0B0"/>
                </a:solidFill>
                <a:latin typeface="Inter"/>
              </a:defRPr>
            </a:pPr>
            <a:r>
              <a:t>0,0005 ct / post analysé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1280160"/>
            <a:ext cx="4846320" cy="493776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417320"/>
            <a:ext cx="4480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00D4FF"/>
                </a:solidFill>
                <a:latin typeface="Inter"/>
              </a:defRPr>
            </a:pPr>
            <a:r>
              <a:t>BUDGET PROJET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828800"/>
            <a:ext cx="429768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20116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E8E8E8"/>
                </a:solidFill>
                <a:latin typeface="Inter"/>
              </a:defRPr>
            </a:pPr>
            <a:r>
              <a:t>Ressources humaines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01168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1500" b="1" i="0">
                <a:solidFill>
                  <a:srgbClr val="E8E8E8"/>
                </a:solidFill>
                <a:latin typeface="Inter"/>
              </a:defRPr>
            </a:pPr>
            <a:r>
              <a:t>49 500 €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3317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 i="0">
                <a:solidFill>
                  <a:srgbClr val="B0B0B0"/>
                </a:solidFill>
                <a:latin typeface="Inter"/>
              </a:defRPr>
            </a:pPr>
            <a:r>
              <a:t>  Lead Technique (65 j)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33172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1300" b="1" i="0">
                <a:solidFill>
                  <a:srgbClr val="B0B0B0"/>
                </a:solidFill>
                <a:latin typeface="Inter"/>
              </a:defRPr>
            </a:pPr>
            <a:r>
              <a:t>29 250 €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6517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 i="0">
                <a:solidFill>
                  <a:srgbClr val="B0B0B0"/>
                </a:solidFill>
                <a:latin typeface="Inter"/>
              </a:defRPr>
            </a:pPr>
            <a:r>
              <a:t>  Validation ML (45 j)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65176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1300" b="1" i="0">
                <a:solidFill>
                  <a:srgbClr val="B0B0B0"/>
                </a:solidFill>
                <a:latin typeface="Inter"/>
              </a:defRPr>
            </a:pPr>
            <a:r>
              <a:t>20 250 €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9718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E8E8E8"/>
                </a:solidFill>
                <a:latin typeface="Inter"/>
              </a:defRPr>
            </a:pPr>
            <a:r>
              <a:t>Infrastructure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97180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1500" b="1" i="0">
                <a:solidFill>
                  <a:srgbClr val="E8E8E8"/>
                </a:solidFill>
                <a:latin typeface="Inter"/>
              </a:defRPr>
            </a:pPr>
            <a:r>
              <a:t>0 €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2918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E8E8E8"/>
                </a:solidFill>
                <a:latin typeface="Inter"/>
              </a:defRPr>
            </a:pPr>
            <a:r>
              <a:t>Licences / outils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29184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1500" b="1" i="0">
                <a:solidFill>
                  <a:srgbClr val="E8E8E8"/>
                </a:solidFill>
                <a:latin typeface="Inter"/>
              </a:defRPr>
            </a:pPr>
            <a:r>
              <a:t>0 €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6118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E8E8E8"/>
                </a:solidFill>
                <a:latin typeface="Inter"/>
              </a:defRPr>
            </a:pPr>
            <a:r>
              <a:t>Annotation gold 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61188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1500" b="1" i="0">
                <a:solidFill>
                  <a:srgbClr val="E8E8E8"/>
                </a:solidFill>
                <a:latin typeface="Inter"/>
              </a:defRPr>
            </a:pPr>
            <a:r>
              <a:t>750 €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3977640"/>
            <a:ext cx="41148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411480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1" i="0">
                <a:solidFill>
                  <a:srgbClr val="00D4FF"/>
                </a:solidFill>
                <a:latin typeface="Inter"/>
              </a:defRPr>
            </a:pPr>
            <a:r>
              <a:t>TOTAL PROJET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411480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1700" b="1" i="0">
                <a:solidFill>
                  <a:srgbClr val="00D4FF"/>
                </a:solidFill>
                <a:latin typeface="Inter"/>
              </a:defRPr>
            </a:pPr>
            <a:r>
              <a:t>50 250 €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0" y="4617720"/>
            <a:ext cx="411480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0" y="47548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00E676"/>
                </a:solidFill>
                <a:latin typeface="Inter"/>
              </a:defRPr>
            </a:pPr>
            <a:r>
              <a:t>Exploitation mensuelle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475488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1400" b="1" i="0">
                <a:solidFill>
                  <a:srgbClr val="00E676"/>
                </a:solidFill>
                <a:latin typeface="Inter"/>
              </a:defRPr>
            </a:pPr>
            <a:r>
              <a:t>~930 €/mois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507492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200" b="0" i="1">
                <a:solidFill>
                  <a:srgbClr val="606060"/>
                </a:solidFill>
                <a:latin typeface="Inter"/>
              </a:defRPr>
            </a:pPr>
            <a:r>
              <a:t>100% open source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 i="1">
                <a:solidFill>
                  <a:srgbClr val="606060"/>
                </a:solidFill>
                <a:latin typeface="Inter"/>
              </a:defRPr>
            </a:pPr>
            <a:r>
              <a:t>Aucun coût de licence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2636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200" b="0" i="1">
                <a:solidFill>
                  <a:srgbClr val="606060"/>
                </a:solidFill>
                <a:latin typeface="Inter"/>
              </a:defRPr>
            </a:pPr>
            <a:r>
              <a:t>TJM consultant junior : 450 €  |  Stack : Python, PyTorch, Streamlit, Docker (OSS)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ThumaCheck  ·  Client : Thumalien  ·  M1 BDIA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06060"/>
                </a:solidFill>
                <a:latin typeface="Inter"/>
              </a:defRPr>
            </a:pPr>
            <a: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4400" b="1">
                <a:solidFill>
                  <a:srgbClr val="00D4FF"/>
                </a:solidFill>
                <a:latin typeface="Inter"/>
              </a:defRPr>
            </a:pPr>
            <a:r>
              <a:t>ROADMAP — VERS V12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B0B0B0"/>
                </a:solidFill>
                <a:latin typeface="Inter"/>
              </a:defRPr>
            </a:pPr>
            <a:r>
              <a:t>Limites assumées et perspectives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475488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291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4000" b="1" i="0">
                <a:solidFill>
                  <a:srgbClr val="00D4FF"/>
                </a:solidFill>
                <a:latin typeface="Inter"/>
              </a:defRPr>
            </a:pPr>
            <a:r>
              <a:t>V10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000" b="0" i="0">
                <a:solidFill>
                  <a:srgbClr val="B0B0B0"/>
                </a:solidFill>
                <a:latin typeface="Inter"/>
              </a:defRPr>
            </a:pPr>
            <a:r>
              <a:t>Q3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06040"/>
            <a:ext cx="292608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E8E8E8"/>
                </a:solidFill>
                <a:latin typeface="Inter"/>
              </a:defRPr>
            </a:pPr>
            <a:r>
              <a:t>•  MLflow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E8E8E8"/>
                </a:solidFill>
                <a:latin typeface="Inter"/>
              </a:defRPr>
            </a:pPr>
            <a:r>
              <a:t>•  Drift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E8E8E8"/>
                </a:solidFill>
                <a:latin typeface="Inter"/>
              </a:defRPr>
            </a:pPr>
            <a:r>
              <a:t>•  Streamlit AppTest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120640"/>
            <a:ext cx="292608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25780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600" b="1" i="1">
                <a:solidFill>
                  <a:srgbClr val="FFD600"/>
                </a:solidFill>
                <a:latin typeface="Inter"/>
              </a:defRPr>
            </a:pPr>
            <a:r>
              <a:t>Industrialisation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371600"/>
            <a:ext cx="3474720" cy="475488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554480"/>
            <a:ext cx="3291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4000" b="1" i="0">
                <a:solidFill>
                  <a:srgbClr val="00E676"/>
                </a:solidFill>
                <a:latin typeface="Inter"/>
              </a:defRPr>
            </a:pPr>
            <a:r>
              <a:t>V11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14884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000" b="0" i="0">
                <a:solidFill>
                  <a:srgbClr val="B0B0B0"/>
                </a:solidFill>
                <a:latin typeface="Inter"/>
              </a:defRPr>
            </a:pPr>
            <a:r>
              <a:t>Q4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606040"/>
            <a:ext cx="292608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83464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E8E8E8"/>
                </a:solidFill>
                <a:latin typeface="Inter"/>
              </a:defRPr>
            </a:pPr>
            <a:r>
              <a:t>•  ClaimBuster intégration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38328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E8E8E8"/>
                </a:solidFill>
                <a:latin typeface="Inter"/>
              </a:defRPr>
            </a:pPr>
            <a:r>
              <a:t>•  Monitoring Grafana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93192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E8E8E8"/>
                </a:solidFill>
                <a:latin typeface="Inter"/>
              </a:defRPr>
            </a:pPr>
            <a:r>
              <a:t>•  Tests E2E nightly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5120640"/>
            <a:ext cx="292608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525780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600" b="1" i="1">
                <a:solidFill>
                  <a:srgbClr val="FFD600"/>
                </a:solidFill>
                <a:latin typeface="Inter"/>
              </a:defRPr>
            </a:pPr>
            <a:r>
              <a:t>Vérif. factuelle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371600"/>
            <a:ext cx="3474720" cy="475488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554480"/>
            <a:ext cx="3291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4000" b="1" i="0">
                <a:solidFill>
                  <a:srgbClr val="FFD600"/>
                </a:solidFill>
                <a:latin typeface="Inter"/>
              </a:defRPr>
            </a:pPr>
            <a:r>
              <a:t>V12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14884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000" b="0" i="0">
                <a:solidFill>
                  <a:srgbClr val="B0B0B0"/>
                </a:solidFill>
                <a:latin typeface="Inter"/>
              </a:defRPr>
            </a:pPr>
            <a:r>
              <a:t>2027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2606040"/>
            <a:ext cx="292608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283464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E8E8E8"/>
                </a:solidFill>
                <a:latin typeface="Inter"/>
              </a:defRPr>
            </a:pPr>
            <a:r>
              <a:t>•  Modèle FR spécialisé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38328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E8E8E8"/>
                </a:solidFill>
                <a:latin typeface="Inter"/>
              </a:defRPr>
            </a:pPr>
            <a:r>
              <a:t>•  Annotation communautaire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93192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E8E8E8"/>
                </a:solidFill>
                <a:latin typeface="Inter"/>
              </a:defRPr>
            </a:pPr>
            <a:r>
              <a:t>•  Federated learning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5120640"/>
            <a:ext cx="292608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525780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600" b="1" i="1">
                <a:solidFill>
                  <a:srgbClr val="FFD600"/>
                </a:solidFill>
                <a:latin typeface="Inter"/>
              </a:defRPr>
            </a:pPr>
            <a:r>
              <a:t>Inclusion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ThumaCheck  ·  Client : Thumalien  ·  M1 BDIA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06060"/>
                </a:solidFill>
                <a:latin typeface="Inter"/>
              </a:defRPr>
            </a:pPr>
            <a: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5600" b="0" i="1">
                <a:solidFill>
                  <a:srgbClr val="E8E8E8"/>
                </a:solidFill>
                <a:latin typeface="Inter"/>
              </a:defRPr>
            </a:pPr>
            <a:r>
              <a:t>« Un score sans explication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5600" b="0" i="1">
                <a:solidFill>
                  <a:srgbClr val="E8E8E8"/>
                </a:solidFill>
                <a:latin typeface="Inter"/>
              </a:defRPr>
            </a:pPr>
            <a:r>
              <a:t>  est un verdict sans procès. »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5303520"/>
            <a:ext cx="3931920" cy="12700"/>
          </a:xfrm>
          <a:prstGeom prst="rect">
            <a:avLst/>
          </a:prstGeom>
          <a:solidFill>
            <a:srgbClr val="008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188720"/>
            <a:ext cx="112471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7200" b="1" i="0">
                <a:solidFill>
                  <a:srgbClr val="00D4FF"/>
                </a:solidFill>
                <a:latin typeface="Inter"/>
              </a:defRPr>
            </a:pPr>
            <a:r>
              <a:t>MERCI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2377440"/>
            <a:ext cx="48463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11247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400" b="0" i="0">
                <a:solidFill>
                  <a:srgbClr val="E8E8E8"/>
                </a:solidFill>
                <a:latin typeface="Inter"/>
              </a:defRPr>
            </a:pPr>
            <a:r>
              <a:t>Azélie Bernard  ·  Sébastien Lazcanotegui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0" i="0">
                <a:solidFill>
                  <a:srgbClr val="B0B0B0"/>
                </a:solidFill>
                <a:latin typeface="Inter"/>
              </a:defRPr>
            </a:pPr>
            <a:r>
              <a:t>Master 1 Big Data &amp; Intelligence Artificielle —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931920"/>
            <a:ext cx="941832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0" y="4206240"/>
            <a:ext cx="2103120" cy="146304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2700">
            <a:solidFill>
              <a:srgbClr val="008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297680"/>
            <a:ext cx="21031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800" b="0" i="0">
                <a:solidFill>
                  <a:srgbClr val="606060"/>
                </a:solidFill>
                <a:latin typeface="Inter"/>
              </a:defRPr>
            </a:pPr>
            <a:r>
              <a:t>QR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76072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B0B0B0"/>
                </a:solidFill>
                <a:latin typeface="Inter"/>
              </a:defRPr>
            </a:pPr>
            <a:r>
              <a:t>Repository GitHub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4206240"/>
            <a:ext cx="2103120" cy="146304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2700">
            <a:solidFill>
              <a:srgbClr val="008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4297680"/>
            <a:ext cx="21031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800" b="0" i="0">
                <a:solidFill>
                  <a:srgbClr val="606060"/>
                </a:solidFill>
                <a:latin typeface="Inter"/>
              </a:defRPr>
            </a:pPr>
            <a:r>
              <a:t>QR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76072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B0B0B0"/>
                </a:solidFill>
                <a:latin typeface="Inter"/>
              </a:defRPr>
            </a:pPr>
            <a:r>
              <a:t>Rapport complet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206240"/>
            <a:ext cx="2103120" cy="146304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2700">
            <a:solidFill>
              <a:srgbClr val="008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297680"/>
            <a:ext cx="21031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800" b="0" i="0">
                <a:solidFill>
                  <a:srgbClr val="606060"/>
                </a:solidFill>
                <a:latin typeface="Inter"/>
              </a:defRPr>
            </a:pPr>
            <a:r>
              <a:t>QR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76072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B0B0B0"/>
                </a:solidFill>
                <a:latin typeface="Inter"/>
              </a:defRPr>
            </a:pPr>
            <a:r>
              <a:t>Model 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700" b="0" i="1">
                <a:solidFill>
                  <a:srgbClr val="B0B0B0"/>
                </a:solidFill>
                <a:latin typeface="Inter"/>
              </a:defRPr>
            </a:pPr>
            <a:r>
              <a:t>Questions ?  Disponible dans le chat de soutenance.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ThumaCheck  ·  Client : Thumalien  ·  M1 BDIA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